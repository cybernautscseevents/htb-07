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embeddedFontLst>
    <p:embeddedFont>
      <p:font typeface="Space Mono" charset="1" panose="02000509040000020004"/>
      <p:regular r:id="rId18"/>
    </p:embeddedFont>
    <p:embeddedFont>
      <p:font typeface="Newsreader 36pt" charset="1" panose="02000000000000000000"/>
      <p:regular r:id="rId19"/>
    </p:embeddedFont>
    <p:embeddedFont>
      <p:font typeface="Inter" charset="1" panose="02000503000000020004"/>
      <p:regular r:id="rId20"/>
    </p:embeddedFont>
    <p:embeddedFont>
      <p:font typeface="Inter Semi-Bold" charset="1" panose="02000503000000020004"/>
      <p:regular r:id="rId21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2192000" cy="6858000"/>
            <a:chOff x="0" y="0"/>
            <a:chExt cx="1625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5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5" r="0" b="-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63503" y="-63503"/>
            <a:ext cx="12318997" cy="6984997"/>
            <a:chOff x="0" y="0"/>
            <a:chExt cx="12319000" cy="698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978150" y="558800"/>
              <a:ext cx="7943850" cy="19050"/>
            </a:xfrm>
            <a:custGeom>
              <a:avLst/>
              <a:gdLst/>
              <a:ahLst/>
              <a:cxnLst/>
              <a:rect r="r" b="b" t="t" l="l"/>
              <a:pathLst>
                <a:path h="19050" w="79438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7934325" y="0"/>
                  </a:lnTo>
                  <a:cubicBezTo>
                    <a:pt x="7936992" y="0"/>
                    <a:pt x="7939151" y="889"/>
                    <a:pt x="7941056" y="2794"/>
                  </a:cubicBezTo>
                  <a:cubicBezTo>
                    <a:pt x="7942961" y="4699"/>
                    <a:pt x="7943850" y="6858"/>
                    <a:pt x="7943850" y="9525"/>
                  </a:cubicBezTo>
                  <a:cubicBezTo>
                    <a:pt x="7943850" y="12192"/>
                    <a:pt x="7942961" y="14351"/>
                    <a:pt x="7941056" y="16256"/>
                  </a:cubicBezTo>
                  <a:cubicBezTo>
                    <a:pt x="7939151" y="18161"/>
                    <a:pt x="7936992" y="19050"/>
                    <a:pt x="79343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054850" y="2101850"/>
              <a:ext cx="2352675" cy="1009650"/>
            </a:xfrm>
            <a:custGeom>
              <a:avLst/>
              <a:gdLst/>
              <a:ahLst/>
              <a:cxnLst/>
              <a:rect r="r" b="b" t="t" l="l"/>
              <a:pathLst>
                <a:path h="1009650" w="2352675">
                  <a:moveTo>
                    <a:pt x="0" y="947420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lnTo>
                    <a:pt x="13462" y="42037"/>
                  </a:lnTo>
                  <a:lnTo>
                    <a:pt x="4699" y="38354"/>
                  </a:lnTo>
                  <a:cubicBezTo>
                    <a:pt x="6223" y="34544"/>
                    <a:pt x="8128" y="30988"/>
                    <a:pt x="10414" y="27559"/>
                  </a:cubicBezTo>
                  <a:lnTo>
                    <a:pt x="18288" y="32893"/>
                  </a:lnTo>
                  <a:lnTo>
                    <a:pt x="10414" y="27559"/>
                  </a:ln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559" y="10414"/>
                  </a:lnTo>
                  <a:cubicBezTo>
                    <a:pt x="30988" y="8128"/>
                    <a:pt x="34544" y="6223"/>
                    <a:pt x="38354" y="4699"/>
                  </a:cubicBezTo>
                  <a:cubicBezTo>
                    <a:pt x="42164" y="3175"/>
                    <a:pt x="45974" y="1905"/>
                    <a:pt x="50038" y="1143"/>
                  </a:cubicBezTo>
                  <a:lnTo>
                    <a:pt x="51943" y="10541"/>
                  </a:lnTo>
                  <a:lnTo>
                    <a:pt x="50038" y="1143"/>
                  </a:lnTo>
                  <a:cubicBezTo>
                    <a:pt x="54102" y="381"/>
                    <a:pt x="58039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2290445" y="0"/>
                  </a:lnTo>
                  <a:lnTo>
                    <a:pt x="2290445" y="9525"/>
                  </a:lnTo>
                  <a:lnTo>
                    <a:pt x="2290445" y="0"/>
                  </a:lnTo>
                  <a:cubicBezTo>
                    <a:pt x="2294509" y="0"/>
                    <a:pt x="2298573" y="381"/>
                    <a:pt x="2302637" y="1143"/>
                  </a:cubicBezTo>
                  <a:lnTo>
                    <a:pt x="2300732" y="10541"/>
                  </a:lnTo>
                  <a:lnTo>
                    <a:pt x="2302637" y="1143"/>
                  </a:lnTo>
                  <a:cubicBezTo>
                    <a:pt x="2306701" y="1905"/>
                    <a:pt x="2310511" y="3175"/>
                    <a:pt x="2314321" y="4699"/>
                  </a:cubicBezTo>
                  <a:cubicBezTo>
                    <a:pt x="2318131" y="6223"/>
                    <a:pt x="2321687" y="8128"/>
                    <a:pt x="2325115" y="10414"/>
                  </a:cubicBezTo>
                  <a:lnTo>
                    <a:pt x="2319782" y="18288"/>
                  </a:lnTo>
                  <a:lnTo>
                    <a:pt x="2325115" y="10414"/>
                  </a:lnTo>
                  <a:cubicBezTo>
                    <a:pt x="2328545" y="12700"/>
                    <a:pt x="2331720" y="15240"/>
                    <a:pt x="2334513" y="18161"/>
                  </a:cubicBezTo>
                  <a:lnTo>
                    <a:pt x="2327783" y="24892"/>
                  </a:lnTo>
                  <a:lnTo>
                    <a:pt x="2334513" y="18161"/>
                  </a:lnTo>
                  <a:cubicBezTo>
                    <a:pt x="2337435" y="21082"/>
                    <a:pt x="2339975" y="24257"/>
                    <a:pt x="2342261" y="27559"/>
                  </a:cubicBezTo>
                  <a:lnTo>
                    <a:pt x="2334387" y="32893"/>
                  </a:lnTo>
                  <a:lnTo>
                    <a:pt x="2342261" y="27559"/>
                  </a:lnTo>
                  <a:cubicBezTo>
                    <a:pt x="2344547" y="30988"/>
                    <a:pt x="2346451" y="34544"/>
                    <a:pt x="2347976" y="38354"/>
                  </a:cubicBezTo>
                  <a:cubicBezTo>
                    <a:pt x="2349500" y="42164"/>
                    <a:pt x="2350770" y="45974"/>
                    <a:pt x="2351532" y="50038"/>
                  </a:cubicBezTo>
                  <a:cubicBezTo>
                    <a:pt x="2352294" y="54102"/>
                    <a:pt x="2352675" y="58039"/>
                    <a:pt x="2352675" y="62230"/>
                  </a:cubicBezTo>
                  <a:lnTo>
                    <a:pt x="2352675" y="947420"/>
                  </a:lnTo>
                  <a:cubicBezTo>
                    <a:pt x="2352675" y="951484"/>
                    <a:pt x="2352294" y="955548"/>
                    <a:pt x="2351532" y="959612"/>
                  </a:cubicBezTo>
                  <a:lnTo>
                    <a:pt x="2342134" y="957707"/>
                  </a:lnTo>
                  <a:lnTo>
                    <a:pt x="2351532" y="959612"/>
                  </a:lnTo>
                  <a:cubicBezTo>
                    <a:pt x="2350770" y="963676"/>
                    <a:pt x="2349500" y="967486"/>
                    <a:pt x="2347976" y="971296"/>
                  </a:cubicBezTo>
                  <a:cubicBezTo>
                    <a:pt x="2346451" y="975106"/>
                    <a:pt x="2344547" y="978662"/>
                    <a:pt x="2342261" y="982091"/>
                  </a:cubicBezTo>
                  <a:lnTo>
                    <a:pt x="2334387" y="976757"/>
                  </a:lnTo>
                  <a:lnTo>
                    <a:pt x="2342261" y="982091"/>
                  </a:lnTo>
                  <a:cubicBezTo>
                    <a:pt x="2339975" y="985520"/>
                    <a:pt x="2337435" y="988695"/>
                    <a:pt x="2334513" y="991489"/>
                  </a:cubicBezTo>
                  <a:lnTo>
                    <a:pt x="2327783" y="984758"/>
                  </a:lnTo>
                  <a:lnTo>
                    <a:pt x="2334513" y="991489"/>
                  </a:lnTo>
                  <a:cubicBezTo>
                    <a:pt x="2331593" y="994410"/>
                    <a:pt x="2328418" y="996950"/>
                    <a:pt x="2325115" y="999236"/>
                  </a:cubicBezTo>
                  <a:lnTo>
                    <a:pt x="2319782" y="991362"/>
                  </a:lnTo>
                  <a:lnTo>
                    <a:pt x="2325115" y="999236"/>
                  </a:lnTo>
                  <a:cubicBezTo>
                    <a:pt x="2321687" y="1001522"/>
                    <a:pt x="2318131" y="1003427"/>
                    <a:pt x="2314321" y="1004951"/>
                  </a:cubicBezTo>
                  <a:cubicBezTo>
                    <a:pt x="2310511" y="1006475"/>
                    <a:pt x="2306701" y="1007745"/>
                    <a:pt x="2302637" y="1008507"/>
                  </a:cubicBezTo>
                  <a:lnTo>
                    <a:pt x="2300732" y="999109"/>
                  </a:lnTo>
                  <a:lnTo>
                    <a:pt x="2302637" y="1008507"/>
                  </a:lnTo>
                  <a:cubicBezTo>
                    <a:pt x="2298573" y="1009269"/>
                    <a:pt x="2294636" y="1009650"/>
                    <a:pt x="2290445" y="1009650"/>
                  </a:cubicBezTo>
                  <a:lnTo>
                    <a:pt x="62230" y="1009650"/>
                  </a:lnTo>
                  <a:cubicBezTo>
                    <a:pt x="58166" y="1009650"/>
                    <a:pt x="54102" y="1009269"/>
                    <a:pt x="50038" y="1008507"/>
                  </a:cubicBezTo>
                  <a:cubicBezTo>
                    <a:pt x="45974" y="1007745"/>
                    <a:pt x="42164" y="1006475"/>
                    <a:pt x="38354" y="1004951"/>
                  </a:cubicBezTo>
                  <a:cubicBezTo>
                    <a:pt x="34544" y="1003427"/>
                    <a:pt x="30988" y="1001522"/>
                    <a:pt x="27560" y="999236"/>
                  </a:cubicBezTo>
                  <a:lnTo>
                    <a:pt x="32893" y="991362"/>
                  </a:lnTo>
                  <a:lnTo>
                    <a:pt x="27560" y="999236"/>
                  </a:lnTo>
                  <a:cubicBezTo>
                    <a:pt x="24130" y="996950"/>
                    <a:pt x="20955" y="994410"/>
                    <a:pt x="18162" y="991489"/>
                  </a:cubicBezTo>
                  <a:lnTo>
                    <a:pt x="24892" y="984758"/>
                  </a:lnTo>
                  <a:lnTo>
                    <a:pt x="18162" y="991489"/>
                  </a:lnTo>
                  <a:cubicBezTo>
                    <a:pt x="15240" y="988568"/>
                    <a:pt x="12700" y="985393"/>
                    <a:pt x="10414" y="982091"/>
                  </a:cubicBezTo>
                  <a:cubicBezTo>
                    <a:pt x="8128" y="978662"/>
                    <a:pt x="6224" y="975106"/>
                    <a:pt x="4699" y="971296"/>
                  </a:cubicBezTo>
                  <a:lnTo>
                    <a:pt x="13462" y="967613"/>
                  </a:lnTo>
                  <a:lnTo>
                    <a:pt x="4699" y="971296"/>
                  </a:lnTo>
                  <a:cubicBezTo>
                    <a:pt x="3175" y="967486"/>
                    <a:pt x="1905" y="963676"/>
                    <a:pt x="1143" y="959612"/>
                  </a:cubicBezTo>
                  <a:lnTo>
                    <a:pt x="10541" y="957707"/>
                  </a:lnTo>
                  <a:lnTo>
                    <a:pt x="1143" y="959612"/>
                  </a:lnTo>
                  <a:cubicBezTo>
                    <a:pt x="381" y="955548"/>
                    <a:pt x="0" y="951611"/>
                    <a:pt x="0" y="947420"/>
                  </a:cubicBezTo>
                  <a:lnTo>
                    <a:pt x="9525" y="947420"/>
                  </a:lnTo>
                  <a:lnTo>
                    <a:pt x="0" y="947420"/>
                  </a:lnTo>
                  <a:moveTo>
                    <a:pt x="19050" y="947420"/>
                  </a:moveTo>
                  <a:cubicBezTo>
                    <a:pt x="19050" y="950214"/>
                    <a:pt x="19304" y="953008"/>
                    <a:pt x="19939" y="955802"/>
                  </a:cubicBezTo>
                  <a:cubicBezTo>
                    <a:pt x="20448" y="958596"/>
                    <a:pt x="21337" y="961263"/>
                    <a:pt x="22352" y="963930"/>
                  </a:cubicBezTo>
                  <a:cubicBezTo>
                    <a:pt x="23368" y="966597"/>
                    <a:pt x="24765" y="969010"/>
                    <a:pt x="26289" y="971423"/>
                  </a:cubicBezTo>
                  <a:lnTo>
                    <a:pt x="18415" y="976757"/>
                  </a:lnTo>
                  <a:lnTo>
                    <a:pt x="26289" y="971423"/>
                  </a:lnTo>
                  <a:cubicBezTo>
                    <a:pt x="27813" y="973836"/>
                    <a:pt x="29591" y="975995"/>
                    <a:pt x="31624" y="978027"/>
                  </a:cubicBezTo>
                  <a:cubicBezTo>
                    <a:pt x="33655" y="980059"/>
                    <a:pt x="35814" y="981837"/>
                    <a:pt x="38227" y="983361"/>
                  </a:cubicBezTo>
                  <a:cubicBezTo>
                    <a:pt x="40640" y="984885"/>
                    <a:pt x="43053" y="986282"/>
                    <a:pt x="45720" y="987298"/>
                  </a:cubicBezTo>
                  <a:lnTo>
                    <a:pt x="42037" y="996061"/>
                  </a:lnTo>
                  <a:lnTo>
                    <a:pt x="45720" y="987298"/>
                  </a:lnTo>
                  <a:cubicBezTo>
                    <a:pt x="48387" y="988441"/>
                    <a:pt x="51054" y="989203"/>
                    <a:pt x="53849" y="989711"/>
                  </a:cubicBezTo>
                  <a:lnTo>
                    <a:pt x="51943" y="999109"/>
                  </a:lnTo>
                  <a:lnTo>
                    <a:pt x="53849" y="989711"/>
                  </a:lnTo>
                  <a:cubicBezTo>
                    <a:pt x="56642" y="990219"/>
                    <a:pt x="59437" y="990600"/>
                    <a:pt x="62230" y="990600"/>
                  </a:cubicBezTo>
                  <a:lnTo>
                    <a:pt x="62230" y="1000125"/>
                  </a:lnTo>
                  <a:lnTo>
                    <a:pt x="62230" y="990600"/>
                  </a:lnTo>
                  <a:lnTo>
                    <a:pt x="2290445" y="990600"/>
                  </a:lnTo>
                  <a:lnTo>
                    <a:pt x="2290445" y="1000125"/>
                  </a:lnTo>
                  <a:lnTo>
                    <a:pt x="2290445" y="990600"/>
                  </a:lnTo>
                  <a:cubicBezTo>
                    <a:pt x="2293238" y="990600"/>
                    <a:pt x="2296033" y="990346"/>
                    <a:pt x="2298826" y="989711"/>
                  </a:cubicBezTo>
                  <a:cubicBezTo>
                    <a:pt x="2301621" y="989203"/>
                    <a:pt x="2304288" y="988314"/>
                    <a:pt x="2306955" y="987298"/>
                  </a:cubicBezTo>
                  <a:lnTo>
                    <a:pt x="2310638" y="996061"/>
                  </a:lnTo>
                  <a:lnTo>
                    <a:pt x="2306955" y="987298"/>
                  </a:lnTo>
                  <a:cubicBezTo>
                    <a:pt x="2309622" y="986155"/>
                    <a:pt x="2312035" y="984885"/>
                    <a:pt x="2314448" y="983361"/>
                  </a:cubicBezTo>
                  <a:cubicBezTo>
                    <a:pt x="2316861" y="981837"/>
                    <a:pt x="2319020" y="980059"/>
                    <a:pt x="2321051" y="978027"/>
                  </a:cubicBezTo>
                  <a:cubicBezTo>
                    <a:pt x="2323084" y="975995"/>
                    <a:pt x="2324862" y="973836"/>
                    <a:pt x="2326386" y="971423"/>
                  </a:cubicBezTo>
                  <a:cubicBezTo>
                    <a:pt x="2327910" y="969010"/>
                    <a:pt x="2329307" y="966597"/>
                    <a:pt x="2330323" y="963930"/>
                  </a:cubicBezTo>
                  <a:lnTo>
                    <a:pt x="2339086" y="967613"/>
                  </a:lnTo>
                  <a:lnTo>
                    <a:pt x="2330323" y="963930"/>
                  </a:lnTo>
                  <a:cubicBezTo>
                    <a:pt x="2331465" y="961263"/>
                    <a:pt x="2332227" y="958596"/>
                    <a:pt x="2332736" y="955802"/>
                  </a:cubicBezTo>
                  <a:cubicBezTo>
                    <a:pt x="2333244" y="953008"/>
                    <a:pt x="2333625" y="950214"/>
                    <a:pt x="2333625" y="947420"/>
                  </a:cubicBezTo>
                  <a:lnTo>
                    <a:pt x="2343150" y="947420"/>
                  </a:lnTo>
                  <a:lnTo>
                    <a:pt x="2333625" y="947420"/>
                  </a:lnTo>
                  <a:lnTo>
                    <a:pt x="2333625" y="62230"/>
                  </a:lnTo>
                  <a:lnTo>
                    <a:pt x="2343150" y="62230"/>
                  </a:lnTo>
                  <a:lnTo>
                    <a:pt x="2333625" y="62230"/>
                  </a:lnTo>
                  <a:cubicBezTo>
                    <a:pt x="2333625" y="59436"/>
                    <a:pt x="2333371" y="56642"/>
                    <a:pt x="2332736" y="53848"/>
                  </a:cubicBezTo>
                  <a:lnTo>
                    <a:pt x="2342134" y="51943"/>
                  </a:lnTo>
                  <a:lnTo>
                    <a:pt x="2332736" y="53848"/>
                  </a:lnTo>
                  <a:cubicBezTo>
                    <a:pt x="2332228" y="51054"/>
                    <a:pt x="2331339" y="48387"/>
                    <a:pt x="2330323" y="45720"/>
                  </a:cubicBezTo>
                  <a:lnTo>
                    <a:pt x="2339086" y="42037"/>
                  </a:lnTo>
                  <a:lnTo>
                    <a:pt x="2330323" y="45720"/>
                  </a:lnTo>
                  <a:cubicBezTo>
                    <a:pt x="2329180" y="43053"/>
                    <a:pt x="2327910" y="40640"/>
                    <a:pt x="2326386" y="38227"/>
                  </a:cubicBezTo>
                  <a:cubicBezTo>
                    <a:pt x="2324862" y="35814"/>
                    <a:pt x="2323084" y="33655"/>
                    <a:pt x="2321052" y="31623"/>
                  </a:cubicBezTo>
                  <a:cubicBezTo>
                    <a:pt x="2319020" y="29591"/>
                    <a:pt x="2316861" y="27813"/>
                    <a:pt x="2314448" y="26289"/>
                  </a:cubicBezTo>
                  <a:cubicBezTo>
                    <a:pt x="2312035" y="24765"/>
                    <a:pt x="2309622" y="23368"/>
                    <a:pt x="2306955" y="22352"/>
                  </a:cubicBezTo>
                  <a:lnTo>
                    <a:pt x="2310638" y="13589"/>
                  </a:lnTo>
                  <a:lnTo>
                    <a:pt x="2306955" y="22352"/>
                  </a:lnTo>
                  <a:cubicBezTo>
                    <a:pt x="2304288" y="21209"/>
                    <a:pt x="2301621" y="20447"/>
                    <a:pt x="2298827" y="19939"/>
                  </a:cubicBezTo>
                  <a:cubicBezTo>
                    <a:pt x="2296033" y="19431"/>
                    <a:pt x="2293239" y="19050"/>
                    <a:pt x="2290445" y="19050"/>
                  </a:cubicBezTo>
                  <a:lnTo>
                    <a:pt x="62230" y="19050"/>
                  </a:lnTo>
                  <a:cubicBezTo>
                    <a:pt x="59437" y="19050"/>
                    <a:pt x="56642" y="19304"/>
                    <a:pt x="53849" y="19939"/>
                  </a:cubicBezTo>
                  <a:cubicBezTo>
                    <a:pt x="51054" y="20447"/>
                    <a:pt x="48387" y="21336"/>
                    <a:pt x="45720" y="22352"/>
                  </a:cubicBezTo>
                  <a:lnTo>
                    <a:pt x="42037" y="13589"/>
                  </a:lnTo>
                  <a:lnTo>
                    <a:pt x="45720" y="22352"/>
                  </a:ln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4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cubicBezTo>
                    <a:pt x="24765" y="40640"/>
                    <a:pt x="23368" y="43053"/>
                    <a:pt x="22352" y="45720"/>
                  </a:cubicBezTo>
                  <a:cubicBezTo>
                    <a:pt x="21210" y="48387"/>
                    <a:pt x="20448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947420"/>
                  </a:lnTo>
                  <a:close/>
                </a:path>
              </a:pathLst>
            </a:custGeom>
            <a:solidFill>
              <a:srgbClr val="727EB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9559925" y="2101850"/>
              <a:ext cx="2352675" cy="1009650"/>
            </a:xfrm>
            <a:custGeom>
              <a:avLst/>
              <a:gdLst/>
              <a:ahLst/>
              <a:cxnLst/>
              <a:rect r="r" b="b" t="t" l="l"/>
              <a:pathLst>
                <a:path h="1009650" w="2352675">
                  <a:moveTo>
                    <a:pt x="0" y="947420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lnTo>
                    <a:pt x="13462" y="42037"/>
                  </a:lnTo>
                  <a:lnTo>
                    <a:pt x="4699" y="38354"/>
                  </a:lnTo>
                  <a:cubicBezTo>
                    <a:pt x="6223" y="34544"/>
                    <a:pt x="8128" y="30988"/>
                    <a:pt x="10414" y="27559"/>
                  </a:cubicBezTo>
                  <a:lnTo>
                    <a:pt x="18288" y="32893"/>
                  </a:lnTo>
                  <a:lnTo>
                    <a:pt x="10414" y="27559"/>
                  </a:ln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559" y="10414"/>
                  </a:lnTo>
                  <a:cubicBezTo>
                    <a:pt x="30988" y="8128"/>
                    <a:pt x="34544" y="6223"/>
                    <a:pt x="38354" y="4699"/>
                  </a:cubicBezTo>
                  <a:lnTo>
                    <a:pt x="42037" y="13462"/>
                  </a:lnTo>
                  <a:lnTo>
                    <a:pt x="38354" y="4699"/>
                  </a:lnTo>
                  <a:cubicBezTo>
                    <a:pt x="42164" y="3175"/>
                    <a:pt x="45974" y="1905"/>
                    <a:pt x="50038" y="1143"/>
                  </a:cubicBezTo>
                  <a:lnTo>
                    <a:pt x="51943" y="10541"/>
                  </a:lnTo>
                  <a:lnTo>
                    <a:pt x="50038" y="1143"/>
                  </a:lnTo>
                  <a:cubicBezTo>
                    <a:pt x="54102" y="381"/>
                    <a:pt x="58039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2290445" y="0"/>
                  </a:lnTo>
                  <a:lnTo>
                    <a:pt x="2290445" y="9525"/>
                  </a:lnTo>
                  <a:lnTo>
                    <a:pt x="2290445" y="0"/>
                  </a:lnTo>
                  <a:cubicBezTo>
                    <a:pt x="2294509" y="0"/>
                    <a:pt x="2298573" y="381"/>
                    <a:pt x="2302637" y="1143"/>
                  </a:cubicBezTo>
                  <a:lnTo>
                    <a:pt x="2300732" y="10541"/>
                  </a:lnTo>
                  <a:lnTo>
                    <a:pt x="2302637" y="1143"/>
                  </a:lnTo>
                  <a:cubicBezTo>
                    <a:pt x="2306701" y="1905"/>
                    <a:pt x="2310511" y="3175"/>
                    <a:pt x="2314321" y="4699"/>
                  </a:cubicBezTo>
                  <a:lnTo>
                    <a:pt x="2310638" y="13462"/>
                  </a:lnTo>
                  <a:lnTo>
                    <a:pt x="2314321" y="4699"/>
                  </a:lnTo>
                  <a:cubicBezTo>
                    <a:pt x="2318131" y="6223"/>
                    <a:pt x="2321687" y="8128"/>
                    <a:pt x="2325115" y="10414"/>
                  </a:cubicBezTo>
                  <a:cubicBezTo>
                    <a:pt x="2328545" y="12700"/>
                    <a:pt x="2331593" y="15240"/>
                    <a:pt x="2334513" y="18161"/>
                  </a:cubicBezTo>
                  <a:lnTo>
                    <a:pt x="2327783" y="24892"/>
                  </a:lnTo>
                  <a:lnTo>
                    <a:pt x="2334513" y="18161"/>
                  </a:lnTo>
                  <a:cubicBezTo>
                    <a:pt x="2337435" y="21082"/>
                    <a:pt x="2339975" y="24257"/>
                    <a:pt x="2342261" y="27559"/>
                  </a:cubicBezTo>
                  <a:lnTo>
                    <a:pt x="2334387" y="32893"/>
                  </a:lnTo>
                  <a:lnTo>
                    <a:pt x="2342261" y="27559"/>
                  </a:lnTo>
                  <a:cubicBezTo>
                    <a:pt x="2344547" y="30988"/>
                    <a:pt x="2346451" y="34544"/>
                    <a:pt x="2347976" y="38354"/>
                  </a:cubicBezTo>
                  <a:cubicBezTo>
                    <a:pt x="2349500" y="42164"/>
                    <a:pt x="2350770" y="45974"/>
                    <a:pt x="2351532" y="50038"/>
                  </a:cubicBezTo>
                  <a:cubicBezTo>
                    <a:pt x="2352294" y="54102"/>
                    <a:pt x="2352675" y="58039"/>
                    <a:pt x="2352675" y="62230"/>
                  </a:cubicBezTo>
                  <a:lnTo>
                    <a:pt x="2352675" y="947420"/>
                  </a:lnTo>
                  <a:cubicBezTo>
                    <a:pt x="2352675" y="951484"/>
                    <a:pt x="2352294" y="955548"/>
                    <a:pt x="2351532" y="959612"/>
                  </a:cubicBezTo>
                  <a:lnTo>
                    <a:pt x="2342134" y="957707"/>
                  </a:lnTo>
                  <a:lnTo>
                    <a:pt x="2351532" y="959612"/>
                  </a:lnTo>
                  <a:cubicBezTo>
                    <a:pt x="2350770" y="963676"/>
                    <a:pt x="2349500" y="967486"/>
                    <a:pt x="2347976" y="971296"/>
                  </a:cubicBezTo>
                  <a:lnTo>
                    <a:pt x="2339213" y="967613"/>
                  </a:lnTo>
                  <a:lnTo>
                    <a:pt x="2347976" y="971296"/>
                  </a:lnTo>
                  <a:cubicBezTo>
                    <a:pt x="2346451" y="975106"/>
                    <a:pt x="2344547" y="978662"/>
                    <a:pt x="2342261" y="982091"/>
                  </a:cubicBezTo>
                  <a:lnTo>
                    <a:pt x="2334387" y="976757"/>
                  </a:lnTo>
                  <a:lnTo>
                    <a:pt x="2342261" y="982091"/>
                  </a:lnTo>
                  <a:cubicBezTo>
                    <a:pt x="2339975" y="985520"/>
                    <a:pt x="2337435" y="988695"/>
                    <a:pt x="2334513" y="991489"/>
                  </a:cubicBezTo>
                  <a:lnTo>
                    <a:pt x="2327783" y="984758"/>
                  </a:lnTo>
                  <a:lnTo>
                    <a:pt x="2334513" y="991489"/>
                  </a:lnTo>
                  <a:cubicBezTo>
                    <a:pt x="2331593" y="994410"/>
                    <a:pt x="2328418" y="996950"/>
                    <a:pt x="2325115" y="999236"/>
                  </a:cubicBezTo>
                  <a:cubicBezTo>
                    <a:pt x="2321687" y="1001522"/>
                    <a:pt x="2318131" y="1003427"/>
                    <a:pt x="2314321" y="1004951"/>
                  </a:cubicBezTo>
                  <a:cubicBezTo>
                    <a:pt x="2310511" y="1006475"/>
                    <a:pt x="2306701" y="1007745"/>
                    <a:pt x="2302637" y="1008507"/>
                  </a:cubicBezTo>
                  <a:cubicBezTo>
                    <a:pt x="2298573" y="1009269"/>
                    <a:pt x="2294636" y="1009650"/>
                    <a:pt x="2290445" y="1009650"/>
                  </a:cubicBezTo>
                  <a:lnTo>
                    <a:pt x="62230" y="1009650"/>
                  </a:lnTo>
                  <a:cubicBezTo>
                    <a:pt x="58166" y="1009650"/>
                    <a:pt x="54102" y="1009269"/>
                    <a:pt x="50038" y="1008507"/>
                  </a:cubicBezTo>
                  <a:lnTo>
                    <a:pt x="51943" y="999109"/>
                  </a:lnTo>
                  <a:lnTo>
                    <a:pt x="50038" y="1008507"/>
                  </a:lnTo>
                  <a:cubicBezTo>
                    <a:pt x="45974" y="1007745"/>
                    <a:pt x="42164" y="1006475"/>
                    <a:pt x="38354" y="1004951"/>
                  </a:cubicBezTo>
                  <a:lnTo>
                    <a:pt x="42037" y="996188"/>
                  </a:lnTo>
                  <a:lnTo>
                    <a:pt x="38354" y="1004951"/>
                  </a:lnTo>
                  <a:cubicBezTo>
                    <a:pt x="34544" y="1003427"/>
                    <a:pt x="30988" y="1001522"/>
                    <a:pt x="27560" y="999236"/>
                  </a:cubicBezTo>
                  <a:lnTo>
                    <a:pt x="32893" y="991362"/>
                  </a:lnTo>
                  <a:lnTo>
                    <a:pt x="27560" y="999236"/>
                  </a:lnTo>
                  <a:cubicBezTo>
                    <a:pt x="24130" y="996950"/>
                    <a:pt x="20955" y="994410"/>
                    <a:pt x="18162" y="991489"/>
                  </a:cubicBezTo>
                  <a:lnTo>
                    <a:pt x="24892" y="984758"/>
                  </a:lnTo>
                  <a:lnTo>
                    <a:pt x="18162" y="991489"/>
                  </a:lnTo>
                  <a:cubicBezTo>
                    <a:pt x="15240" y="988568"/>
                    <a:pt x="12700" y="985393"/>
                    <a:pt x="10414" y="982091"/>
                  </a:cubicBezTo>
                  <a:cubicBezTo>
                    <a:pt x="8128" y="978662"/>
                    <a:pt x="6224" y="975106"/>
                    <a:pt x="4699" y="971296"/>
                  </a:cubicBezTo>
                  <a:lnTo>
                    <a:pt x="13462" y="967613"/>
                  </a:lnTo>
                  <a:lnTo>
                    <a:pt x="4699" y="971296"/>
                  </a:lnTo>
                  <a:cubicBezTo>
                    <a:pt x="3175" y="967486"/>
                    <a:pt x="1905" y="963676"/>
                    <a:pt x="1143" y="959612"/>
                  </a:cubicBezTo>
                  <a:lnTo>
                    <a:pt x="10541" y="957707"/>
                  </a:lnTo>
                  <a:lnTo>
                    <a:pt x="1143" y="959612"/>
                  </a:lnTo>
                  <a:cubicBezTo>
                    <a:pt x="381" y="955548"/>
                    <a:pt x="0" y="951611"/>
                    <a:pt x="0" y="947420"/>
                  </a:cubicBezTo>
                  <a:lnTo>
                    <a:pt x="9525" y="947420"/>
                  </a:lnTo>
                  <a:lnTo>
                    <a:pt x="0" y="947420"/>
                  </a:lnTo>
                  <a:moveTo>
                    <a:pt x="19050" y="947420"/>
                  </a:moveTo>
                  <a:cubicBezTo>
                    <a:pt x="19050" y="950214"/>
                    <a:pt x="19304" y="953008"/>
                    <a:pt x="19939" y="955802"/>
                  </a:cubicBezTo>
                  <a:cubicBezTo>
                    <a:pt x="20448" y="958596"/>
                    <a:pt x="21337" y="961263"/>
                    <a:pt x="22352" y="963930"/>
                  </a:cubicBezTo>
                  <a:cubicBezTo>
                    <a:pt x="23368" y="966597"/>
                    <a:pt x="24765" y="969010"/>
                    <a:pt x="26289" y="971423"/>
                  </a:cubicBezTo>
                  <a:lnTo>
                    <a:pt x="18415" y="976757"/>
                  </a:lnTo>
                  <a:lnTo>
                    <a:pt x="26289" y="971423"/>
                  </a:lnTo>
                  <a:cubicBezTo>
                    <a:pt x="27813" y="973836"/>
                    <a:pt x="29591" y="975995"/>
                    <a:pt x="31624" y="978027"/>
                  </a:cubicBezTo>
                  <a:cubicBezTo>
                    <a:pt x="33655" y="980059"/>
                    <a:pt x="35814" y="981837"/>
                    <a:pt x="38227" y="983361"/>
                  </a:cubicBezTo>
                  <a:cubicBezTo>
                    <a:pt x="40640" y="984885"/>
                    <a:pt x="43053" y="986282"/>
                    <a:pt x="45720" y="987298"/>
                  </a:cubicBezTo>
                  <a:cubicBezTo>
                    <a:pt x="48387" y="988441"/>
                    <a:pt x="51054" y="989203"/>
                    <a:pt x="53849" y="989711"/>
                  </a:cubicBezTo>
                  <a:cubicBezTo>
                    <a:pt x="56642" y="990219"/>
                    <a:pt x="59437" y="990600"/>
                    <a:pt x="62230" y="990600"/>
                  </a:cubicBezTo>
                  <a:lnTo>
                    <a:pt x="62230" y="1000125"/>
                  </a:lnTo>
                  <a:lnTo>
                    <a:pt x="62230" y="990600"/>
                  </a:lnTo>
                  <a:lnTo>
                    <a:pt x="2290445" y="990600"/>
                  </a:lnTo>
                  <a:lnTo>
                    <a:pt x="2290445" y="1000125"/>
                  </a:lnTo>
                  <a:lnTo>
                    <a:pt x="2290445" y="990600"/>
                  </a:lnTo>
                  <a:cubicBezTo>
                    <a:pt x="2293238" y="990600"/>
                    <a:pt x="2296033" y="990346"/>
                    <a:pt x="2298826" y="989711"/>
                  </a:cubicBezTo>
                  <a:lnTo>
                    <a:pt x="2300732" y="999109"/>
                  </a:lnTo>
                  <a:lnTo>
                    <a:pt x="2298826" y="989711"/>
                  </a:lnTo>
                  <a:cubicBezTo>
                    <a:pt x="2301621" y="989203"/>
                    <a:pt x="2304288" y="988314"/>
                    <a:pt x="2306955" y="987298"/>
                  </a:cubicBezTo>
                  <a:lnTo>
                    <a:pt x="2310638" y="996061"/>
                  </a:lnTo>
                  <a:lnTo>
                    <a:pt x="2306955" y="987298"/>
                  </a:lnTo>
                  <a:cubicBezTo>
                    <a:pt x="2309622" y="986155"/>
                    <a:pt x="2312035" y="984885"/>
                    <a:pt x="2314448" y="983361"/>
                  </a:cubicBezTo>
                  <a:lnTo>
                    <a:pt x="2319782" y="991235"/>
                  </a:lnTo>
                  <a:lnTo>
                    <a:pt x="2314448" y="983361"/>
                  </a:lnTo>
                  <a:cubicBezTo>
                    <a:pt x="2316861" y="981837"/>
                    <a:pt x="2319020" y="979932"/>
                    <a:pt x="2321051" y="978027"/>
                  </a:cubicBezTo>
                  <a:cubicBezTo>
                    <a:pt x="2323084" y="976122"/>
                    <a:pt x="2324862" y="973836"/>
                    <a:pt x="2326386" y="971423"/>
                  </a:cubicBezTo>
                  <a:cubicBezTo>
                    <a:pt x="2327910" y="969010"/>
                    <a:pt x="2329307" y="966597"/>
                    <a:pt x="2330323" y="963930"/>
                  </a:cubicBezTo>
                  <a:cubicBezTo>
                    <a:pt x="2331338" y="961263"/>
                    <a:pt x="2332227" y="958596"/>
                    <a:pt x="2332736" y="955802"/>
                  </a:cubicBezTo>
                  <a:cubicBezTo>
                    <a:pt x="2333244" y="953008"/>
                    <a:pt x="2333625" y="950214"/>
                    <a:pt x="2333625" y="947420"/>
                  </a:cubicBezTo>
                  <a:lnTo>
                    <a:pt x="2343150" y="947420"/>
                  </a:lnTo>
                  <a:lnTo>
                    <a:pt x="2333625" y="947420"/>
                  </a:lnTo>
                  <a:lnTo>
                    <a:pt x="2333625" y="62230"/>
                  </a:lnTo>
                  <a:lnTo>
                    <a:pt x="2343150" y="62230"/>
                  </a:lnTo>
                  <a:lnTo>
                    <a:pt x="2333625" y="62230"/>
                  </a:lnTo>
                  <a:cubicBezTo>
                    <a:pt x="2333625" y="59436"/>
                    <a:pt x="2333371" y="56642"/>
                    <a:pt x="2332736" y="53848"/>
                  </a:cubicBezTo>
                  <a:lnTo>
                    <a:pt x="2342134" y="51943"/>
                  </a:lnTo>
                  <a:lnTo>
                    <a:pt x="2332736" y="53848"/>
                  </a:lnTo>
                  <a:cubicBezTo>
                    <a:pt x="2332227" y="51054"/>
                    <a:pt x="2331338" y="48387"/>
                    <a:pt x="2330323" y="45720"/>
                  </a:cubicBezTo>
                  <a:lnTo>
                    <a:pt x="2339086" y="42037"/>
                  </a:lnTo>
                  <a:lnTo>
                    <a:pt x="2330323" y="45720"/>
                  </a:lnTo>
                  <a:cubicBezTo>
                    <a:pt x="2329180" y="43053"/>
                    <a:pt x="2327910" y="40640"/>
                    <a:pt x="2326386" y="38227"/>
                  </a:cubicBezTo>
                  <a:cubicBezTo>
                    <a:pt x="2324862" y="35814"/>
                    <a:pt x="2323084" y="33655"/>
                    <a:pt x="2321051" y="31623"/>
                  </a:cubicBezTo>
                  <a:cubicBezTo>
                    <a:pt x="2319020" y="29591"/>
                    <a:pt x="2316861" y="27813"/>
                    <a:pt x="2314448" y="26289"/>
                  </a:cubicBezTo>
                  <a:lnTo>
                    <a:pt x="2319782" y="18415"/>
                  </a:lnTo>
                  <a:lnTo>
                    <a:pt x="2314448" y="26289"/>
                  </a:lnTo>
                  <a:cubicBezTo>
                    <a:pt x="2312035" y="24765"/>
                    <a:pt x="2309622" y="23368"/>
                    <a:pt x="2306955" y="22352"/>
                  </a:cubicBezTo>
                  <a:cubicBezTo>
                    <a:pt x="2304288" y="21336"/>
                    <a:pt x="2301621" y="20447"/>
                    <a:pt x="2298826" y="19939"/>
                  </a:cubicBezTo>
                  <a:cubicBezTo>
                    <a:pt x="2296033" y="19431"/>
                    <a:pt x="2293238" y="19050"/>
                    <a:pt x="2290445" y="19050"/>
                  </a:cubicBezTo>
                  <a:lnTo>
                    <a:pt x="62230" y="19050"/>
                  </a:lnTo>
                  <a:cubicBezTo>
                    <a:pt x="59437" y="19050"/>
                    <a:pt x="56642" y="19304"/>
                    <a:pt x="53849" y="19939"/>
                  </a:cubicBezTo>
                  <a:cubicBezTo>
                    <a:pt x="51054" y="20447"/>
                    <a:pt x="48387" y="21336"/>
                    <a:pt x="45720" y="22352"/>
                  </a:cubicBez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4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cubicBezTo>
                    <a:pt x="24765" y="40640"/>
                    <a:pt x="23368" y="43053"/>
                    <a:pt x="22352" y="45720"/>
                  </a:cubicBezTo>
                  <a:cubicBezTo>
                    <a:pt x="21210" y="48387"/>
                    <a:pt x="20448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947420"/>
                  </a:lnTo>
                  <a:close/>
                </a:path>
              </a:pathLst>
            </a:custGeom>
            <a:solidFill>
              <a:srgbClr val="727EB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7054850" y="3263900"/>
              <a:ext cx="2352675" cy="1000125"/>
            </a:xfrm>
            <a:custGeom>
              <a:avLst/>
              <a:gdLst/>
              <a:ahLst/>
              <a:cxnLst/>
              <a:rect r="r" b="b" t="t" l="l"/>
              <a:pathLst>
                <a:path h="1000125" w="2352675">
                  <a:moveTo>
                    <a:pt x="0" y="937895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lnTo>
                    <a:pt x="13462" y="42037"/>
                  </a:lnTo>
                  <a:lnTo>
                    <a:pt x="4699" y="38354"/>
                  </a:lnTo>
                  <a:cubicBezTo>
                    <a:pt x="6223" y="34544"/>
                    <a:pt x="8128" y="30988"/>
                    <a:pt x="10414" y="27559"/>
                  </a:cubicBez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559" y="10414"/>
                  </a:lnTo>
                  <a:cubicBezTo>
                    <a:pt x="30988" y="8128"/>
                    <a:pt x="34544" y="6223"/>
                    <a:pt x="38354" y="4699"/>
                  </a:cubicBezTo>
                  <a:cubicBezTo>
                    <a:pt x="42164" y="3175"/>
                    <a:pt x="45974" y="1905"/>
                    <a:pt x="50038" y="1143"/>
                  </a:cubicBezTo>
                  <a:lnTo>
                    <a:pt x="51943" y="10541"/>
                  </a:lnTo>
                  <a:lnTo>
                    <a:pt x="50038" y="1143"/>
                  </a:lnTo>
                  <a:cubicBezTo>
                    <a:pt x="54102" y="381"/>
                    <a:pt x="58039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2290445" y="0"/>
                  </a:lnTo>
                  <a:lnTo>
                    <a:pt x="2290445" y="9525"/>
                  </a:lnTo>
                  <a:lnTo>
                    <a:pt x="2290445" y="0"/>
                  </a:lnTo>
                  <a:cubicBezTo>
                    <a:pt x="2294509" y="0"/>
                    <a:pt x="2298573" y="381"/>
                    <a:pt x="2302637" y="1143"/>
                  </a:cubicBezTo>
                  <a:lnTo>
                    <a:pt x="2300732" y="10541"/>
                  </a:lnTo>
                  <a:lnTo>
                    <a:pt x="2302637" y="1143"/>
                  </a:lnTo>
                  <a:cubicBezTo>
                    <a:pt x="2306701" y="1905"/>
                    <a:pt x="2310511" y="3175"/>
                    <a:pt x="2314321" y="4699"/>
                  </a:cubicBezTo>
                  <a:cubicBezTo>
                    <a:pt x="2318131" y="6223"/>
                    <a:pt x="2321687" y="8128"/>
                    <a:pt x="2325115" y="10414"/>
                  </a:cubicBezTo>
                  <a:lnTo>
                    <a:pt x="2319782" y="18288"/>
                  </a:lnTo>
                  <a:lnTo>
                    <a:pt x="2325115" y="10414"/>
                  </a:lnTo>
                  <a:cubicBezTo>
                    <a:pt x="2328545" y="12700"/>
                    <a:pt x="2331720" y="15240"/>
                    <a:pt x="2334513" y="18161"/>
                  </a:cubicBezTo>
                  <a:lnTo>
                    <a:pt x="2327783" y="24892"/>
                  </a:lnTo>
                  <a:lnTo>
                    <a:pt x="2334513" y="18161"/>
                  </a:lnTo>
                  <a:cubicBezTo>
                    <a:pt x="2337435" y="21082"/>
                    <a:pt x="2339975" y="24257"/>
                    <a:pt x="2342261" y="27559"/>
                  </a:cubicBezTo>
                  <a:cubicBezTo>
                    <a:pt x="2344547" y="30988"/>
                    <a:pt x="2346451" y="34544"/>
                    <a:pt x="2347976" y="38354"/>
                  </a:cubicBezTo>
                  <a:cubicBezTo>
                    <a:pt x="2349500" y="42164"/>
                    <a:pt x="2350770" y="45974"/>
                    <a:pt x="2351532" y="50038"/>
                  </a:cubicBezTo>
                  <a:cubicBezTo>
                    <a:pt x="2352294" y="54102"/>
                    <a:pt x="2352675" y="58039"/>
                    <a:pt x="2352675" y="62230"/>
                  </a:cubicBezTo>
                  <a:lnTo>
                    <a:pt x="2352675" y="937895"/>
                  </a:lnTo>
                  <a:cubicBezTo>
                    <a:pt x="2352675" y="941959"/>
                    <a:pt x="2352294" y="946023"/>
                    <a:pt x="2351532" y="950087"/>
                  </a:cubicBezTo>
                  <a:lnTo>
                    <a:pt x="2342134" y="948182"/>
                  </a:lnTo>
                  <a:lnTo>
                    <a:pt x="2351532" y="950087"/>
                  </a:lnTo>
                  <a:cubicBezTo>
                    <a:pt x="2350770" y="954151"/>
                    <a:pt x="2349500" y="957961"/>
                    <a:pt x="2347976" y="961771"/>
                  </a:cubicBezTo>
                  <a:cubicBezTo>
                    <a:pt x="2346451" y="965581"/>
                    <a:pt x="2344547" y="969137"/>
                    <a:pt x="2342261" y="972566"/>
                  </a:cubicBezTo>
                  <a:lnTo>
                    <a:pt x="2334387" y="967232"/>
                  </a:lnTo>
                  <a:lnTo>
                    <a:pt x="2342261" y="972566"/>
                  </a:lnTo>
                  <a:cubicBezTo>
                    <a:pt x="2339975" y="975995"/>
                    <a:pt x="2337435" y="979170"/>
                    <a:pt x="2334513" y="981964"/>
                  </a:cubicBezTo>
                  <a:lnTo>
                    <a:pt x="2327783" y="975233"/>
                  </a:lnTo>
                  <a:lnTo>
                    <a:pt x="2334513" y="981964"/>
                  </a:lnTo>
                  <a:cubicBezTo>
                    <a:pt x="2331593" y="984885"/>
                    <a:pt x="2328418" y="987425"/>
                    <a:pt x="2325115" y="989711"/>
                  </a:cubicBezTo>
                  <a:lnTo>
                    <a:pt x="2319782" y="981837"/>
                  </a:lnTo>
                  <a:lnTo>
                    <a:pt x="2325115" y="989711"/>
                  </a:lnTo>
                  <a:cubicBezTo>
                    <a:pt x="2321687" y="991997"/>
                    <a:pt x="2318131" y="993902"/>
                    <a:pt x="2314321" y="995426"/>
                  </a:cubicBezTo>
                  <a:cubicBezTo>
                    <a:pt x="2310511" y="996950"/>
                    <a:pt x="2306701" y="998220"/>
                    <a:pt x="2302637" y="998982"/>
                  </a:cubicBezTo>
                  <a:lnTo>
                    <a:pt x="2300732" y="989584"/>
                  </a:lnTo>
                  <a:lnTo>
                    <a:pt x="2302637" y="998982"/>
                  </a:lnTo>
                  <a:cubicBezTo>
                    <a:pt x="2298573" y="999744"/>
                    <a:pt x="2294636" y="1000125"/>
                    <a:pt x="2290445" y="1000125"/>
                  </a:cubicBezTo>
                  <a:lnTo>
                    <a:pt x="62230" y="1000125"/>
                  </a:lnTo>
                  <a:cubicBezTo>
                    <a:pt x="58166" y="1000125"/>
                    <a:pt x="54102" y="999744"/>
                    <a:pt x="50038" y="998982"/>
                  </a:cubicBezTo>
                  <a:cubicBezTo>
                    <a:pt x="45974" y="998220"/>
                    <a:pt x="42164" y="996950"/>
                    <a:pt x="38354" y="995426"/>
                  </a:cubicBezTo>
                  <a:cubicBezTo>
                    <a:pt x="34544" y="993902"/>
                    <a:pt x="30988" y="991997"/>
                    <a:pt x="27560" y="989711"/>
                  </a:cubicBezTo>
                  <a:lnTo>
                    <a:pt x="32893" y="981837"/>
                  </a:lnTo>
                  <a:lnTo>
                    <a:pt x="27560" y="989711"/>
                  </a:lnTo>
                  <a:cubicBezTo>
                    <a:pt x="24130" y="987425"/>
                    <a:pt x="20955" y="984885"/>
                    <a:pt x="18162" y="981964"/>
                  </a:cubicBezTo>
                  <a:cubicBezTo>
                    <a:pt x="15240" y="979043"/>
                    <a:pt x="12700" y="975868"/>
                    <a:pt x="10414" y="972566"/>
                  </a:cubicBezTo>
                  <a:cubicBezTo>
                    <a:pt x="8128" y="969137"/>
                    <a:pt x="6224" y="965581"/>
                    <a:pt x="4699" y="961771"/>
                  </a:cubicBezTo>
                  <a:cubicBezTo>
                    <a:pt x="3175" y="957961"/>
                    <a:pt x="1905" y="954151"/>
                    <a:pt x="1143" y="950087"/>
                  </a:cubicBezTo>
                  <a:lnTo>
                    <a:pt x="10541" y="948182"/>
                  </a:lnTo>
                  <a:lnTo>
                    <a:pt x="1143" y="950087"/>
                  </a:lnTo>
                  <a:cubicBezTo>
                    <a:pt x="381" y="946023"/>
                    <a:pt x="0" y="942086"/>
                    <a:pt x="0" y="937895"/>
                  </a:cubicBezTo>
                  <a:lnTo>
                    <a:pt x="9525" y="937895"/>
                  </a:lnTo>
                  <a:lnTo>
                    <a:pt x="0" y="937895"/>
                  </a:lnTo>
                  <a:moveTo>
                    <a:pt x="19050" y="937895"/>
                  </a:moveTo>
                  <a:cubicBezTo>
                    <a:pt x="19050" y="940689"/>
                    <a:pt x="19304" y="943483"/>
                    <a:pt x="19939" y="946277"/>
                  </a:cubicBezTo>
                  <a:cubicBezTo>
                    <a:pt x="20448" y="949071"/>
                    <a:pt x="21337" y="951738"/>
                    <a:pt x="22352" y="954405"/>
                  </a:cubicBezTo>
                  <a:lnTo>
                    <a:pt x="13589" y="958088"/>
                  </a:lnTo>
                  <a:lnTo>
                    <a:pt x="22352" y="954405"/>
                  </a:lnTo>
                  <a:cubicBezTo>
                    <a:pt x="23495" y="957072"/>
                    <a:pt x="24765" y="959485"/>
                    <a:pt x="26289" y="961898"/>
                  </a:cubicBezTo>
                  <a:lnTo>
                    <a:pt x="18415" y="967232"/>
                  </a:lnTo>
                  <a:lnTo>
                    <a:pt x="26289" y="961898"/>
                  </a:lnTo>
                  <a:cubicBezTo>
                    <a:pt x="27813" y="964311"/>
                    <a:pt x="29591" y="966470"/>
                    <a:pt x="31624" y="968502"/>
                  </a:cubicBezTo>
                  <a:lnTo>
                    <a:pt x="24892" y="975233"/>
                  </a:lnTo>
                  <a:lnTo>
                    <a:pt x="31624" y="968502"/>
                  </a:lnTo>
                  <a:cubicBezTo>
                    <a:pt x="33655" y="970534"/>
                    <a:pt x="35814" y="972312"/>
                    <a:pt x="38227" y="973836"/>
                  </a:cubicBezTo>
                  <a:cubicBezTo>
                    <a:pt x="40640" y="975360"/>
                    <a:pt x="43053" y="976757"/>
                    <a:pt x="45720" y="977773"/>
                  </a:cubicBezTo>
                  <a:lnTo>
                    <a:pt x="42037" y="986536"/>
                  </a:lnTo>
                  <a:lnTo>
                    <a:pt x="45720" y="977773"/>
                  </a:lnTo>
                  <a:cubicBezTo>
                    <a:pt x="48387" y="978916"/>
                    <a:pt x="51054" y="979678"/>
                    <a:pt x="53849" y="980186"/>
                  </a:cubicBezTo>
                  <a:lnTo>
                    <a:pt x="51943" y="989584"/>
                  </a:lnTo>
                  <a:lnTo>
                    <a:pt x="53849" y="980186"/>
                  </a:lnTo>
                  <a:cubicBezTo>
                    <a:pt x="56642" y="980694"/>
                    <a:pt x="59437" y="981075"/>
                    <a:pt x="62230" y="981075"/>
                  </a:cubicBezTo>
                  <a:lnTo>
                    <a:pt x="62230" y="990600"/>
                  </a:lnTo>
                  <a:lnTo>
                    <a:pt x="62230" y="981075"/>
                  </a:lnTo>
                  <a:lnTo>
                    <a:pt x="2290445" y="981075"/>
                  </a:lnTo>
                  <a:lnTo>
                    <a:pt x="2290445" y="990600"/>
                  </a:lnTo>
                  <a:lnTo>
                    <a:pt x="2290445" y="981075"/>
                  </a:lnTo>
                  <a:cubicBezTo>
                    <a:pt x="2293238" y="981075"/>
                    <a:pt x="2296033" y="980821"/>
                    <a:pt x="2298826" y="980186"/>
                  </a:cubicBezTo>
                  <a:cubicBezTo>
                    <a:pt x="2301621" y="979678"/>
                    <a:pt x="2304288" y="978789"/>
                    <a:pt x="2306955" y="977773"/>
                  </a:cubicBezTo>
                  <a:lnTo>
                    <a:pt x="2310638" y="986536"/>
                  </a:lnTo>
                  <a:lnTo>
                    <a:pt x="2306955" y="977773"/>
                  </a:lnTo>
                  <a:cubicBezTo>
                    <a:pt x="2309622" y="976630"/>
                    <a:pt x="2312035" y="975360"/>
                    <a:pt x="2314448" y="973836"/>
                  </a:cubicBezTo>
                  <a:cubicBezTo>
                    <a:pt x="2316861" y="972312"/>
                    <a:pt x="2319020" y="970534"/>
                    <a:pt x="2321051" y="968502"/>
                  </a:cubicBezTo>
                  <a:cubicBezTo>
                    <a:pt x="2323084" y="966470"/>
                    <a:pt x="2324862" y="964311"/>
                    <a:pt x="2326386" y="961898"/>
                  </a:cubicBezTo>
                  <a:cubicBezTo>
                    <a:pt x="2327910" y="959485"/>
                    <a:pt x="2329307" y="957072"/>
                    <a:pt x="2330323" y="954405"/>
                  </a:cubicBezTo>
                  <a:lnTo>
                    <a:pt x="2339086" y="958088"/>
                  </a:lnTo>
                  <a:lnTo>
                    <a:pt x="2330323" y="954405"/>
                  </a:lnTo>
                  <a:cubicBezTo>
                    <a:pt x="2331465" y="951738"/>
                    <a:pt x="2332227" y="949071"/>
                    <a:pt x="2332736" y="946277"/>
                  </a:cubicBezTo>
                  <a:cubicBezTo>
                    <a:pt x="2333244" y="943483"/>
                    <a:pt x="2333625" y="940689"/>
                    <a:pt x="2333625" y="937895"/>
                  </a:cubicBezTo>
                  <a:lnTo>
                    <a:pt x="2343150" y="937895"/>
                  </a:lnTo>
                  <a:lnTo>
                    <a:pt x="2333625" y="937895"/>
                  </a:lnTo>
                  <a:lnTo>
                    <a:pt x="2333625" y="62230"/>
                  </a:lnTo>
                  <a:lnTo>
                    <a:pt x="2343150" y="62230"/>
                  </a:lnTo>
                  <a:lnTo>
                    <a:pt x="2333625" y="62230"/>
                  </a:lnTo>
                  <a:cubicBezTo>
                    <a:pt x="2333625" y="59436"/>
                    <a:pt x="2333371" y="56642"/>
                    <a:pt x="2332736" y="53848"/>
                  </a:cubicBezTo>
                  <a:lnTo>
                    <a:pt x="2342134" y="51943"/>
                  </a:lnTo>
                  <a:lnTo>
                    <a:pt x="2332736" y="53848"/>
                  </a:lnTo>
                  <a:cubicBezTo>
                    <a:pt x="2332228" y="51054"/>
                    <a:pt x="2331339" y="48387"/>
                    <a:pt x="2330323" y="45720"/>
                  </a:cubicBezTo>
                  <a:lnTo>
                    <a:pt x="2339086" y="42037"/>
                  </a:lnTo>
                  <a:lnTo>
                    <a:pt x="2330323" y="45720"/>
                  </a:lnTo>
                  <a:cubicBezTo>
                    <a:pt x="2329180" y="43053"/>
                    <a:pt x="2327910" y="40640"/>
                    <a:pt x="2326386" y="38227"/>
                  </a:cubicBezTo>
                  <a:lnTo>
                    <a:pt x="2334260" y="32893"/>
                  </a:lnTo>
                  <a:lnTo>
                    <a:pt x="2326386" y="38227"/>
                  </a:lnTo>
                  <a:cubicBezTo>
                    <a:pt x="2324862" y="35814"/>
                    <a:pt x="2323084" y="33655"/>
                    <a:pt x="2321052" y="31623"/>
                  </a:cubicBezTo>
                  <a:cubicBezTo>
                    <a:pt x="2319020" y="29591"/>
                    <a:pt x="2316861" y="27813"/>
                    <a:pt x="2314448" y="26289"/>
                  </a:cubicBezTo>
                  <a:cubicBezTo>
                    <a:pt x="2312035" y="24765"/>
                    <a:pt x="2309622" y="23368"/>
                    <a:pt x="2306955" y="22352"/>
                  </a:cubicBezTo>
                  <a:lnTo>
                    <a:pt x="2310638" y="13589"/>
                  </a:lnTo>
                  <a:lnTo>
                    <a:pt x="2306955" y="22352"/>
                  </a:lnTo>
                  <a:cubicBezTo>
                    <a:pt x="2304288" y="21209"/>
                    <a:pt x="2301621" y="20447"/>
                    <a:pt x="2298827" y="19939"/>
                  </a:cubicBezTo>
                  <a:cubicBezTo>
                    <a:pt x="2296033" y="19431"/>
                    <a:pt x="2293239" y="19050"/>
                    <a:pt x="2290445" y="19050"/>
                  </a:cubicBezTo>
                  <a:lnTo>
                    <a:pt x="62230" y="19050"/>
                  </a:lnTo>
                  <a:cubicBezTo>
                    <a:pt x="59437" y="19050"/>
                    <a:pt x="56642" y="19304"/>
                    <a:pt x="53849" y="19939"/>
                  </a:cubicBezTo>
                  <a:cubicBezTo>
                    <a:pt x="51054" y="20447"/>
                    <a:pt x="48387" y="21336"/>
                    <a:pt x="45720" y="22352"/>
                  </a:cubicBezTo>
                  <a:lnTo>
                    <a:pt x="42037" y="13589"/>
                  </a:lnTo>
                  <a:lnTo>
                    <a:pt x="45720" y="22352"/>
                  </a:ln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4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lnTo>
                    <a:pt x="18415" y="32893"/>
                  </a:lnTo>
                  <a:lnTo>
                    <a:pt x="26289" y="38227"/>
                  </a:lnTo>
                  <a:cubicBezTo>
                    <a:pt x="24765" y="40640"/>
                    <a:pt x="23368" y="43053"/>
                    <a:pt x="22352" y="45720"/>
                  </a:cubicBezTo>
                  <a:cubicBezTo>
                    <a:pt x="21337" y="48387"/>
                    <a:pt x="20448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937895"/>
                  </a:lnTo>
                  <a:close/>
                </a:path>
              </a:pathLst>
            </a:custGeom>
            <a:solidFill>
              <a:srgbClr val="727EB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9559925" y="3263900"/>
              <a:ext cx="2352675" cy="1000125"/>
            </a:xfrm>
            <a:custGeom>
              <a:avLst/>
              <a:gdLst/>
              <a:ahLst/>
              <a:cxnLst/>
              <a:rect r="r" b="b" t="t" l="l"/>
              <a:pathLst>
                <a:path h="1000125" w="2352675">
                  <a:moveTo>
                    <a:pt x="0" y="937895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lnTo>
                    <a:pt x="13462" y="42037"/>
                  </a:lnTo>
                  <a:lnTo>
                    <a:pt x="4699" y="38354"/>
                  </a:lnTo>
                  <a:cubicBezTo>
                    <a:pt x="6223" y="34544"/>
                    <a:pt x="8128" y="30988"/>
                    <a:pt x="10414" y="27559"/>
                  </a:cubicBez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559" y="10414"/>
                  </a:lnTo>
                  <a:cubicBezTo>
                    <a:pt x="30988" y="8128"/>
                    <a:pt x="34544" y="6223"/>
                    <a:pt x="38354" y="4699"/>
                  </a:cubicBezTo>
                  <a:lnTo>
                    <a:pt x="42037" y="13462"/>
                  </a:lnTo>
                  <a:lnTo>
                    <a:pt x="38354" y="4699"/>
                  </a:lnTo>
                  <a:cubicBezTo>
                    <a:pt x="42164" y="3175"/>
                    <a:pt x="45974" y="1905"/>
                    <a:pt x="50038" y="1143"/>
                  </a:cubicBezTo>
                  <a:lnTo>
                    <a:pt x="51943" y="10541"/>
                  </a:lnTo>
                  <a:lnTo>
                    <a:pt x="50038" y="1143"/>
                  </a:lnTo>
                  <a:cubicBezTo>
                    <a:pt x="54102" y="381"/>
                    <a:pt x="58039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2290445" y="0"/>
                  </a:lnTo>
                  <a:lnTo>
                    <a:pt x="2290445" y="9525"/>
                  </a:lnTo>
                  <a:lnTo>
                    <a:pt x="2290445" y="0"/>
                  </a:lnTo>
                  <a:cubicBezTo>
                    <a:pt x="2294509" y="0"/>
                    <a:pt x="2298573" y="381"/>
                    <a:pt x="2302637" y="1143"/>
                  </a:cubicBezTo>
                  <a:lnTo>
                    <a:pt x="2300732" y="10541"/>
                  </a:lnTo>
                  <a:lnTo>
                    <a:pt x="2302637" y="1143"/>
                  </a:lnTo>
                  <a:cubicBezTo>
                    <a:pt x="2306701" y="1905"/>
                    <a:pt x="2310511" y="3175"/>
                    <a:pt x="2314321" y="4699"/>
                  </a:cubicBezTo>
                  <a:cubicBezTo>
                    <a:pt x="2318131" y="6223"/>
                    <a:pt x="2321687" y="8128"/>
                    <a:pt x="2325115" y="10414"/>
                  </a:cubicBezTo>
                  <a:cubicBezTo>
                    <a:pt x="2328545" y="12700"/>
                    <a:pt x="2331593" y="15240"/>
                    <a:pt x="2334513" y="18161"/>
                  </a:cubicBezTo>
                  <a:lnTo>
                    <a:pt x="2327783" y="24892"/>
                  </a:lnTo>
                  <a:lnTo>
                    <a:pt x="2334513" y="18161"/>
                  </a:lnTo>
                  <a:cubicBezTo>
                    <a:pt x="2337435" y="21082"/>
                    <a:pt x="2339975" y="24257"/>
                    <a:pt x="2342261" y="27559"/>
                  </a:cubicBezTo>
                  <a:lnTo>
                    <a:pt x="2334387" y="32893"/>
                  </a:lnTo>
                  <a:lnTo>
                    <a:pt x="2342261" y="27559"/>
                  </a:lnTo>
                  <a:cubicBezTo>
                    <a:pt x="2344547" y="30988"/>
                    <a:pt x="2346451" y="34544"/>
                    <a:pt x="2347976" y="38354"/>
                  </a:cubicBezTo>
                  <a:lnTo>
                    <a:pt x="2339213" y="42037"/>
                  </a:lnTo>
                  <a:lnTo>
                    <a:pt x="2347976" y="38354"/>
                  </a:lnTo>
                  <a:cubicBezTo>
                    <a:pt x="2349500" y="42164"/>
                    <a:pt x="2350770" y="45974"/>
                    <a:pt x="2351532" y="50038"/>
                  </a:cubicBezTo>
                  <a:cubicBezTo>
                    <a:pt x="2352294" y="54102"/>
                    <a:pt x="2352675" y="58039"/>
                    <a:pt x="2352675" y="62230"/>
                  </a:cubicBezTo>
                  <a:lnTo>
                    <a:pt x="2352675" y="937895"/>
                  </a:lnTo>
                  <a:cubicBezTo>
                    <a:pt x="2352675" y="941959"/>
                    <a:pt x="2352294" y="946023"/>
                    <a:pt x="2351532" y="950087"/>
                  </a:cubicBezTo>
                  <a:lnTo>
                    <a:pt x="2342134" y="948182"/>
                  </a:lnTo>
                  <a:lnTo>
                    <a:pt x="2351532" y="950087"/>
                  </a:lnTo>
                  <a:cubicBezTo>
                    <a:pt x="2350770" y="954151"/>
                    <a:pt x="2349500" y="957961"/>
                    <a:pt x="2347976" y="961771"/>
                  </a:cubicBezTo>
                  <a:cubicBezTo>
                    <a:pt x="2346451" y="965581"/>
                    <a:pt x="2344547" y="969137"/>
                    <a:pt x="2342261" y="972566"/>
                  </a:cubicBezTo>
                  <a:lnTo>
                    <a:pt x="2334387" y="967232"/>
                  </a:lnTo>
                  <a:lnTo>
                    <a:pt x="2342261" y="972566"/>
                  </a:lnTo>
                  <a:cubicBezTo>
                    <a:pt x="2339975" y="975995"/>
                    <a:pt x="2337435" y="979170"/>
                    <a:pt x="2334513" y="981964"/>
                  </a:cubicBezTo>
                  <a:cubicBezTo>
                    <a:pt x="2331593" y="984885"/>
                    <a:pt x="2328418" y="987425"/>
                    <a:pt x="2325115" y="989711"/>
                  </a:cubicBezTo>
                  <a:cubicBezTo>
                    <a:pt x="2321687" y="991997"/>
                    <a:pt x="2318131" y="993902"/>
                    <a:pt x="2314321" y="995426"/>
                  </a:cubicBezTo>
                  <a:lnTo>
                    <a:pt x="2310638" y="986663"/>
                  </a:lnTo>
                  <a:lnTo>
                    <a:pt x="2314321" y="995426"/>
                  </a:lnTo>
                  <a:cubicBezTo>
                    <a:pt x="2310511" y="996950"/>
                    <a:pt x="2306701" y="998220"/>
                    <a:pt x="2302637" y="998982"/>
                  </a:cubicBezTo>
                  <a:lnTo>
                    <a:pt x="2300732" y="989584"/>
                  </a:lnTo>
                  <a:lnTo>
                    <a:pt x="2302637" y="998982"/>
                  </a:lnTo>
                  <a:cubicBezTo>
                    <a:pt x="2298573" y="999744"/>
                    <a:pt x="2294636" y="1000125"/>
                    <a:pt x="2290445" y="1000125"/>
                  </a:cubicBezTo>
                  <a:lnTo>
                    <a:pt x="62230" y="1000125"/>
                  </a:lnTo>
                  <a:cubicBezTo>
                    <a:pt x="58166" y="1000125"/>
                    <a:pt x="54102" y="999744"/>
                    <a:pt x="50038" y="998982"/>
                  </a:cubicBezTo>
                  <a:lnTo>
                    <a:pt x="51943" y="989584"/>
                  </a:lnTo>
                  <a:lnTo>
                    <a:pt x="50038" y="998982"/>
                  </a:lnTo>
                  <a:cubicBezTo>
                    <a:pt x="45974" y="998220"/>
                    <a:pt x="42164" y="996950"/>
                    <a:pt x="38354" y="995426"/>
                  </a:cubicBezTo>
                  <a:lnTo>
                    <a:pt x="42037" y="986663"/>
                  </a:lnTo>
                  <a:lnTo>
                    <a:pt x="38354" y="995426"/>
                  </a:lnTo>
                  <a:cubicBezTo>
                    <a:pt x="34544" y="993902"/>
                    <a:pt x="30988" y="991997"/>
                    <a:pt x="27560" y="989711"/>
                  </a:cubicBezTo>
                  <a:lnTo>
                    <a:pt x="32893" y="981837"/>
                  </a:lnTo>
                  <a:lnTo>
                    <a:pt x="27560" y="989711"/>
                  </a:lnTo>
                  <a:cubicBezTo>
                    <a:pt x="24130" y="987425"/>
                    <a:pt x="20955" y="984885"/>
                    <a:pt x="18162" y="981964"/>
                  </a:cubicBezTo>
                  <a:cubicBezTo>
                    <a:pt x="15240" y="979043"/>
                    <a:pt x="12700" y="975868"/>
                    <a:pt x="10414" y="972566"/>
                  </a:cubicBezTo>
                  <a:cubicBezTo>
                    <a:pt x="8128" y="969137"/>
                    <a:pt x="6224" y="965581"/>
                    <a:pt x="4699" y="961771"/>
                  </a:cubicBezTo>
                  <a:cubicBezTo>
                    <a:pt x="3175" y="957961"/>
                    <a:pt x="1905" y="954151"/>
                    <a:pt x="1143" y="950087"/>
                  </a:cubicBezTo>
                  <a:lnTo>
                    <a:pt x="10541" y="948182"/>
                  </a:lnTo>
                  <a:lnTo>
                    <a:pt x="1143" y="950087"/>
                  </a:lnTo>
                  <a:cubicBezTo>
                    <a:pt x="381" y="946023"/>
                    <a:pt x="0" y="942086"/>
                    <a:pt x="0" y="937895"/>
                  </a:cubicBezTo>
                  <a:lnTo>
                    <a:pt x="9525" y="937895"/>
                  </a:lnTo>
                  <a:lnTo>
                    <a:pt x="0" y="937895"/>
                  </a:lnTo>
                  <a:moveTo>
                    <a:pt x="19050" y="937895"/>
                  </a:moveTo>
                  <a:cubicBezTo>
                    <a:pt x="19050" y="940689"/>
                    <a:pt x="19304" y="943483"/>
                    <a:pt x="19939" y="946277"/>
                  </a:cubicBezTo>
                  <a:cubicBezTo>
                    <a:pt x="20448" y="949071"/>
                    <a:pt x="21337" y="951738"/>
                    <a:pt x="22352" y="954405"/>
                  </a:cubicBezTo>
                  <a:lnTo>
                    <a:pt x="13589" y="958088"/>
                  </a:lnTo>
                  <a:lnTo>
                    <a:pt x="22352" y="954405"/>
                  </a:lnTo>
                  <a:cubicBezTo>
                    <a:pt x="23495" y="957072"/>
                    <a:pt x="24765" y="959485"/>
                    <a:pt x="26289" y="961898"/>
                  </a:cubicBezTo>
                  <a:lnTo>
                    <a:pt x="18415" y="967232"/>
                  </a:lnTo>
                  <a:lnTo>
                    <a:pt x="26289" y="961898"/>
                  </a:lnTo>
                  <a:cubicBezTo>
                    <a:pt x="27813" y="964311"/>
                    <a:pt x="29591" y="966470"/>
                    <a:pt x="31624" y="968502"/>
                  </a:cubicBezTo>
                  <a:lnTo>
                    <a:pt x="24892" y="975233"/>
                  </a:lnTo>
                  <a:lnTo>
                    <a:pt x="31624" y="968502"/>
                  </a:lnTo>
                  <a:cubicBezTo>
                    <a:pt x="33655" y="970534"/>
                    <a:pt x="35814" y="972312"/>
                    <a:pt x="38227" y="973836"/>
                  </a:cubicBezTo>
                  <a:cubicBezTo>
                    <a:pt x="40640" y="975360"/>
                    <a:pt x="43053" y="976757"/>
                    <a:pt x="45720" y="977773"/>
                  </a:cubicBezTo>
                  <a:cubicBezTo>
                    <a:pt x="48387" y="978916"/>
                    <a:pt x="51054" y="979678"/>
                    <a:pt x="53849" y="980186"/>
                  </a:cubicBezTo>
                  <a:cubicBezTo>
                    <a:pt x="56642" y="980694"/>
                    <a:pt x="59437" y="981075"/>
                    <a:pt x="62230" y="981075"/>
                  </a:cubicBezTo>
                  <a:lnTo>
                    <a:pt x="62230" y="990600"/>
                  </a:lnTo>
                  <a:lnTo>
                    <a:pt x="62230" y="981075"/>
                  </a:lnTo>
                  <a:lnTo>
                    <a:pt x="2290445" y="981075"/>
                  </a:lnTo>
                  <a:lnTo>
                    <a:pt x="2290445" y="990600"/>
                  </a:lnTo>
                  <a:lnTo>
                    <a:pt x="2290445" y="981075"/>
                  </a:lnTo>
                  <a:cubicBezTo>
                    <a:pt x="2293238" y="981075"/>
                    <a:pt x="2296033" y="980821"/>
                    <a:pt x="2298826" y="980186"/>
                  </a:cubicBezTo>
                  <a:cubicBezTo>
                    <a:pt x="2301621" y="979678"/>
                    <a:pt x="2304288" y="978789"/>
                    <a:pt x="2306955" y="977773"/>
                  </a:cubicBezTo>
                  <a:cubicBezTo>
                    <a:pt x="2309622" y="976630"/>
                    <a:pt x="2312035" y="975360"/>
                    <a:pt x="2314448" y="973836"/>
                  </a:cubicBezTo>
                  <a:lnTo>
                    <a:pt x="2319782" y="981710"/>
                  </a:lnTo>
                  <a:lnTo>
                    <a:pt x="2314448" y="973836"/>
                  </a:lnTo>
                  <a:cubicBezTo>
                    <a:pt x="2316861" y="972312"/>
                    <a:pt x="2319020" y="970407"/>
                    <a:pt x="2321051" y="968502"/>
                  </a:cubicBezTo>
                  <a:lnTo>
                    <a:pt x="2327783" y="975233"/>
                  </a:lnTo>
                  <a:lnTo>
                    <a:pt x="2321051" y="968502"/>
                  </a:lnTo>
                  <a:cubicBezTo>
                    <a:pt x="2323084" y="966470"/>
                    <a:pt x="2324862" y="964311"/>
                    <a:pt x="2326386" y="961898"/>
                  </a:cubicBezTo>
                  <a:cubicBezTo>
                    <a:pt x="2327910" y="959485"/>
                    <a:pt x="2329307" y="957072"/>
                    <a:pt x="2330323" y="954405"/>
                  </a:cubicBezTo>
                  <a:lnTo>
                    <a:pt x="2339086" y="958088"/>
                  </a:lnTo>
                  <a:lnTo>
                    <a:pt x="2330323" y="954405"/>
                  </a:lnTo>
                  <a:cubicBezTo>
                    <a:pt x="2331465" y="951738"/>
                    <a:pt x="2332227" y="949071"/>
                    <a:pt x="2332736" y="946277"/>
                  </a:cubicBezTo>
                  <a:cubicBezTo>
                    <a:pt x="2333244" y="943483"/>
                    <a:pt x="2333625" y="940689"/>
                    <a:pt x="2333625" y="937895"/>
                  </a:cubicBezTo>
                  <a:lnTo>
                    <a:pt x="2343150" y="937895"/>
                  </a:lnTo>
                  <a:lnTo>
                    <a:pt x="2333625" y="937895"/>
                  </a:lnTo>
                  <a:lnTo>
                    <a:pt x="2333625" y="62230"/>
                  </a:lnTo>
                  <a:lnTo>
                    <a:pt x="2343150" y="62230"/>
                  </a:lnTo>
                  <a:lnTo>
                    <a:pt x="2333625" y="62230"/>
                  </a:lnTo>
                  <a:cubicBezTo>
                    <a:pt x="2333625" y="59436"/>
                    <a:pt x="2333371" y="56642"/>
                    <a:pt x="2332736" y="53848"/>
                  </a:cubicBezTo>
                  <a:lnTo>
                    <a:pt x="2342134" y="51943"/>
                  </a:lnTo>
                  <a:lnTo>
                    <a:pt x="2332736" y="53848"/>
                  </a:lnTo>
                  <a:cubicBezTo>
                    <a:pt x="2332227" y="51054"/>
                    <a:pt x="2331338" y="48387"/>
                    <a:pt x="2330323" y="45720"/>
                  </a:cubicBezTo>
                  <a:cubicBezTo>
                    <a:pt x="2329307" y="43053"/>
                    <a:pt x="2327910" y="40640"/>
                    <a:pt x="2326386" y="38227"/>
                  </a:cubicBezTo>
                  <a:cubicBezTo>
                    <a:pt x="2324862" y="35814"/>
                    <a:pt x="2323084" y="33655"/>
                    <a:pt x="2321051" y="31623"/>
                  </a:cubicBezTo>
                  <a:cubicBezTo>
                    <a:pt x="2319020" y="29591"/>
                    <a:pt x="2316861" y="27813"/>
                    <a:pt x="2314448" y="26289"/>
                  </a:cubicBezTo>
                  <a:lnTo>
                    <a:pt x="2319782" y="18415"/>
                  </a:lnTo>
                  <a:lnTo>
                    <a:pt x="2314448" y="26289"/>
                  </a:lnTo>
                  <a:cubicBezTo>
                    <a:pt x="2312035" y="24765"/>
                    <a:pt x="2309622" y="23368"/>
                    <a:pt x="2306955" y="22352"/>
                  </a:cubicBezTo>
                  <a:lnTo>
                    <a:pt x="2310638" y="13589"/>
                  </a:lnTo>
                  <a:lnTo>
                    <a:pt x="2306955" y="22352"/>
                  </a:lnTo>
                  <a:cubicBezTo>
                    <a:pt x="2304288" y="21209"/>
                    <a:pt x="2301621" y="20447"/>
                    <a:pt x="2298826" y="19939"/>
                  </a:cubicBezTo>
                  <a:cubicBezTo>
                    <a:pt x="2296033" y="19431"/>
                    <a:pt x="2293238" y="19050"/>
                    <a:pt x="2290445" y="19050"/>
                  </a:cubicBezTo>
                  <a:lnTo>
                    <a:pt x="62230" y="19050"/>
                  </a:lnTo>
                  <a:cubicBezTo>
                    <a:pt x="59437" y="19050"/>
                    <a:pt x="56642" y="19304"/>
                    <a:pt x="53849" y="19939"/>
                  </a:cubicBezTo>
                  <a:cubicBezTo>
                    <a:pt x="51054" y="20447"/>
                    <a:pt x="48387" y="21336"/>
                    <a:pt x="45720" y="22352"/>
                  </a:cubicBez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4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lnTo>
                    <a:pt x="18415" y="32893"/>
                  </a:lnTo>
                  <a:lnTo>
                    <a:pt x="26289" y="38227"/>
                  </a:lnTo>
                  <a:cubicBezTo>
                    <a:pt x="24765" y="40640"/>
                    <a:pt x="23368" y="43053"/>
                    <a:pt x="22352" y="45720"/>
                  </a:cubicBezTo>
                  <a:cubicBezTo>
                    <a:pt x="21337" y="48387"/>
                    <a:pt x="20448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937895"/>
                  </a:lnTo>
                  <a:close/>
                </a:path>
              </a:pathLst>
            </a:custGeom>
            <a:solidFill>
              <a:srgbClr val="727EB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06400" y="5845175"/>
              <a:ext cx="11506200" cy="19050"/>
            </a:xfrm>
            <a:custGeom>
              <a:avLst/>
              <a:gdLst/>
              <a:ahLst/>
              <a:cxnLst/>
              <a:rect r="r" b="b" t="t" l="l"/>
              <a:pathLst>
                <a:path h="19050" w="115062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11496675" y="0"/>
                  </a:lnTo>
                  <a:cubicBezTo>
                    <a:pt x="11499342" y="0"/>
                    <a:pt x="11501501" y="889"/>
                    <a:pt x="11503406" y="2794"/>
                  </a:cubicBezTo>
                  <a:cubicBezTo>
                    <a:pt x="11505311" y="4699"/>
                    <a:pt x="11506200" y="6858"/>
                    <a:pt x="11506200" y="9525"/>
                  </a:cubicBezTo>
                  <a:cubicBezTo>
                    <a:pt x="11506200" y="12192"/>
                    <a:pt x="11505311" y="14351"/>
                    <a:pt x="11503406" y="16256"/>
                  </a:cubicBezTo>
                  <a:cubicBezTo>
                    <a:pt x="11501501" y="18161"/>
                    <a:pt x="11499342" y="19050"/>
                    <a:pt x="114966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22266" y="321774"/>
            <a:ext cx="427339" cy="170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 spc="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CB-02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900" y="331299"/>
            <a:ext cx="2080708" cy="32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4"/>
              </a:lnSpc>
            </a:pPr>
            <a:r>
              <a:rPr lang="en-US" sz="999" spc="59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HACKATOPIA 2K26 · NATIONAL-LEVEL HACKATHON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00" y="1031405"/>
            <a:ext cx="4839605" cy="2074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CB-02 — SBOM RISK &amp; TRUST AUDITOR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3085" y="3220831"/>
            <a:ext cx="58283" cy="28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2900" y="3882728"/>
            <a:ext cx="5296805" cy="28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Intelligent Approach to Software Supply Chain Risk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2900" y="4127035"/>
            <a:ext cx="1230440" cy="28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Prioritization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6685" y="3863578"/>
            <a:ext cx="38252" cy="17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2900" y="4605734"/>
            <a:ext cx="4447634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“Know What You Depend On. Trust What You Scan. Fix What Matters.ˮˮ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42724" y="3577828"/>
            <a:ext cx="1968868" cy="16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"/>
              </a:lnSpc>
            </a:pPr>
            <a:r>
              <a:rPr lang="en-US" sz="18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Akshatha Poojary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42724" y="2425303"/>
            <a:ext cx="1968868" cy="17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"/>
              </a:lnSpc>
            </a:pPr>
            <a:r>
              <a:rPr lang="en-US" sz="200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Shreesha A 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45866" y="3577828"/>
            <a:ext cx="1760334" cy="164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"/>
              </a:lnSpc>
            </a:pPr>
            <a:r>
              <a:rPr lang="en-US" sz="18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Raksha Kiran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45866" y="2425303"/>
            <a:ext cx="2103739" cy="163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"/>
              </a:lnSpc>
            </a:pPr>
            <a:r>
              <a:rPr lang="en-US" sz="19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Shravan S Kotian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95074" y="1229363"/>
            <a:ext cx="4511126" cy="29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4"/>
              </a:lnSpc>
            </a:pPr>
            <a:r>
              <a:rPr lang="en-US" sz="3549" spc="212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Team Memebers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" y="0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0" y="4572"/>
            <a:ext cx="12184380" cy="6848856"/>
          </a:xfrm>
          <a:custGeom>
            <a:avLst/>
            <a:gdLst/>
            <a:ahLst/>
            <a:cxnLst/>
            <a:rect r="r" b="b" t="t" l="l"/>
            <a:pathLst>
              <a:path h="6848856" w="12184380">
                <a:moveTo>
                  <a:pt x="0" y="0"/>
                </a:moveTo>
                <a:lnTo>
                  <a:pt x="12184380" y="0"/>
                </a:lnTo>
                <a:lnTo>
                  <a:pt x="12184380" y="6848856"/>
                </a:lnTo>
                <a:lnTo>
                  <a:pt x="0" y="6848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10" y="190881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2900" y="1580388"/>
            <a:ext cx="5600700" cy="4764024"/>
          </a:xfrm>
          <a:custGeom>
            <a:avLst/>
            <a:gdLst/>
            <a:ahLst/>
            <a:cxnLst/>
            <a:rect r="r" b="b" t="t" l="l"/>
            <a:pathLst>
              <a:path h="4764024" w="5600700">
                <a:moveTo>
                  <a:pt x="0" y="0"/>
                </a:moveTo>
                <a:lnTo>
                  <a:pt x="5600700" y="0"/>
                </a:lnTo>
                <a:lnTo>
                  <a:pt x="5600700" y="4764024"/>
                </a:lnTo>
                <a:lnTo>
                  <a:pt x="0" y="4764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0738" y="3009519"/>
            <a:ext cx="20574" cy="610362"/>
          </a:xfrm>
          <a:custGeom>
            <a:avLst/>
            <a:gdLst/>
            <a:ahLst/>
            <a:cxnLst/>
            <a:rect r="r" b="b" t="t" l="l"/>
            <a:pathLst>
              <a:path h="610362" w="20574">
                <a:moveTo>
                  <a:pt x="0" y="0"/>
                </a:moveTo>
                <a:lnTo>
                  <a:pt x="20574" y="0"/>
                </a:lnTo>
                <a:lnTo>
                  <a:pt x="20574" y="610362"/>
                </a:lnTo>
                <a:lnTo>
                  <a:pt x="0" y="6103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48210" y="1580959"/>
            <a:ext cx="448056" cy="448056"/>
          </a:xfrm>
          <a:custGeom>
            <a:avLst/>
            <a:gdLst/>
            <a:ahLst/>
            <a:cxnLst/>
            <a:rect r="r" b="b" t="t" l="l"/>
            <a:pathLst>
              <a:path h="448056" w="448056">
                <a:moveTo>
                  <a:pt x="0" y="0"/>
                </a:moveTo>
                <a:lnTo>
                  <a:pt x="448056" y="0"/>
                </a:lnTo>
                <a:lnTo>
                  <a:pt x="448056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48210" y="1580959"/>
            <a:ext cx="448056" cy="448056"/>
          </a:xfrm>
          <a:custGeom>
            <a:avLst/>
            <a:gdLst/>
            <a:ahLst/>
            <a:cxnLst/>
            <a:rect r="r" b="b" t="t" l="l"/>
            <a:pathLst>
              <a:path h="448056" w="448056">
                <a:moveTo>
                  <a:pt x="0" y="0"/>
                </a:moveTo>
                <a:lnTo>
                  <a:pt x="448056" y="0"/>
                </a:lnTo>
                <a:lnTo>
                  <a:pt x="448056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48210" y="3171444"/>
            <a:ext cx="448056" cy="438912"/>
          </a:xfrm>
          <a:custGeom>
            <a:avLst/>
            <a:gdLst/>
            <a:ahLst/>
            <a:cxnLst/>
            <a:rect r="r" b="b" t="t" l="l"/>
            <a:pathLst>
              <a:path h="438912" w="448056">
                <a:moveTo>
                  <a:pt x="0" y="0"/>
                </a:moveTo>
                <a:lnTo>
                  <a:pt x="448056" y="0"/>
                </a:lnTo>
                <a:lnTo>
                  <a:pt x="448056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8210" y="3171444"/>
            <a:ext cx="448056" cy="438912"/>
          </a:xfrm>
          <a:custGeom>
            <a:avLst/>
            <a:gdLst/>
            <a:ahLst/>
            <a:cxnLst/>
            <a:rect r="r" b="b" t="t" l="l"/>
            <a:pathLst>
              <a:path h="438912" w="448056">
                <a:moveTo>
                  <a:pt x="0" y="0"/>
                </a:moveTo>
                <a:lnTo>
                  <a:pt x="448056" y="0"/>
                </a:lnTo>
                <a:lnTo>
                  <a:pt x="448056" y="438912"/>
                </a:lnTo>
                <a:lnTo>
                  <a:pt x="0" y="43891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48210" y="4752784"/>
            <a:ext cx="448056" cy="448056"/>
          </a:xfrm>
          <a:custGeom>
            <a:avLst/>
            <a:gdLst/>
            <a:ahLst/>
            <a:cxnLst/>
            <a:rect r="r" b="b" t="t" l="l"/>
            <a:pathLst>
              <a:path h="448056" w="448056">
                <a:moveTo>
                  <a:pt x="0" y="0"/>
                </a:moveTo>
                <a:lnTo>
                  <a:pt x="448056" y="0"/>
                </a:lnTo>
                <a:lnTo>
                  <a:pt x="448056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248210" y="4752784"/>
            <a:ext cx="448056" cy="448056"/>
          </a:xfrm>
          <a:custGeom>
            <a:avLst/>
            <a:gdLst/>
            <a:ahLst/>
            <a:cxnLst/>
            <a:rect r="r" b="b" t="t" l="l"/>
            <a:pathLst>
              <a:path h="448056" w="448056">
                <a:moveTo>
                  <a:pt x="0" y="0"/>
                </a:moveTo>
                <a:lnTo>
                  <a:pt x="448056" y="0"/>
                </a:lnTo>
                <a:lnTo>
                  <a:pt x="448056" y="448056"/>
                </a:lnTo>
                <a:lnTo>
                  <a:pt x="0" y="4480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4064" y="1633617"/>
            <a:ext cx="5383883" cy="459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849" spc="11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The Problem:</a:t>
            </a:r>
          </a:p>
          <a:p>
            <a:pPr algn="l">
              <a:lnSpc>
                <a:spcPts val="2250"/>
              </a:lnSpc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Modern applications rely on third-party software components that may contain known vulnerabilities. Complex dependencies and incomplete SBOM information make these risks difficult to assess and prioritize.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379"/>
              </a:lnSpc>
            </a:pPr>
            <a:r>
              <a:rPr lang="en-US" sz="1849" spc="11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Current Real-World Situation:</a:t>
            </a:r>
          </a:p>
          <a:p>
            <a:pPr algn="l">
              <a:lnSpc>
                <a:spcPts val="2250"/>
              </a:lnSpc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Existing tools identify vulnerabilities, but developers still need to evaluate the evidence, understand dependency risks, and decide what to fix first.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400834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02/10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2900" y="410433"/>
            <a:ext cx="11607070" cy="88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7"/>
              </a:lnSpc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Software Supply Chain Security: Beyond Vulnerability Detection</a:t>
            </a:r>
          </a:p>
          <a:p>
            <a:pPr algn="l">
              <a:lnSpc>
                <a:spcPts val="1737"/>
              </a:lnSpc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Problem ID: CB-02</a:t>
            </a:r>
          </a:p>
          <a:p>
            <a:pPr algn="l">
              <a:lnSpc>
                <a:spcPts val="1737"/>
              </a:lnSpc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Problem Title: SBOM Risk &amp; Trust Auditor</a:t>
            </a:r>
          </a:p>
          <a:p>
            <a:pPr algn="l">
              <a:lnSpc>
                <a:spcPts val="173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248400" y="3547758"/>
            <a:ext cx="5734098" cy="137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4"/>
              </a:lnSpc>
            </a:pPr>
          </a:p>
          <a:p>
            <a:pPr algn="l" marL="302152" indent="-151076" lvl="1">
              <a:lnSpc>
                <a:spcPts val="1824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Vulnerabilities can enter applications through third-party dependencies.</a:t>
            </a:r>
          </a:p>
          <a:p>
            <a:pPr algn="l" marL="302152" indent="-151076" lvl="1">
              <a:lnSpc>
                <a:spcPts val="1824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Long vulnerability lists make remediation priorities difficult to determine.</a:t>
            </a:r>
          </a:p>
          <a:p>
            <a:pPr algn="l">
              <a:lnSpc>
                <a:spcPts val="1824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206757" y="1943318"/>
            <a:ext cx="5743213" cy="108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</a:p>
          <a:p>
            <a:pPr algn="l" marL="302152" indent="-151076" lvl="1">
              <a:lnSpc>
                <a:spcPts val="1799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Developers and software maintainers</a:t>
            </a:r>
          </a:p>
          <a:p>
            <a:pPr algn="l" marL="302152" indent="-151076" lvl="1">
              <a:lnSpc>
                <a:spcPts val="1799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DevSecOps teams and security analysts</a:t>
            </a:r>
          </a:p>
          <a:p>
            <a:pPr algn="l" marL="302152" indent="-151076" lvl="1">
              <a:lnSpc>
                <a:spcPts val="1799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Organizations relying on open-source and third-party software</a:t>
            </a:r>
          </a:p>
          <a:p>
            <a:pPr algn="l">
              <a:lnSpc>
                <a:spcPts val="17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280928" y="5152415"/>
            <a:ext cx="5701570" cy="1746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</a:p>
          <a:p>
            <a:pPr algn="l" marL="302152" indent="-151076" lvl="1">
              <a:lnSpc>
                <a:spcPts val="1799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66% — In ENISA's analysis of 24 supply-chain attacks published in 2021, approximately 66% focused on suppliers' code.</a:t>
            </a:r>
          </a:p>
          <a:p>
            <a:pPr algn="l" marL="302152" indent="-151076" lvl="1">
              <a:lnSpc>
                <a:spcPts val="1799"/>
              </a:lnSpc>
              <a:buFont typeface="Arial"/>
              <a:buChar char="•"/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#1 Emerging Threat — ENISA's 2024 cybersecurity foresight report ranked Supply Chain Compromise of Software Dependencies as the top emerging cybersecurity threat toward 2030.</a:t>
            </a:r>
          </a:p>
          <a:p>
            <a:pPr algn="l">
              <a:lnSpc>
                <a:spcPts val="179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6821062" y="3276600"/>
            <a:ext cx="1914742" cy="2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Why D</a:t>
            </a:r>
            <a:r>
              <a:rPr lang="en-US" sz="16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oes It Matter?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55590" y="4871733"/>
            <a:ext cx="1880213" cy="2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Supporting Statistics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1" y="1627375"/>
            <a:ext cx="1837892" cy="33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W</a:t>
            </a:r>
            <a:r>
              <a:rPr lang="en-US" sz="19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ho Is Affected?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900" y="2219325"/>
            <a:ext cx="2762250" cy="3702710"/>
            <a:chOff x="0" y="0"/>
            <a:chExt cx="2762250" cy="37027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62250" cy="3702710"/>
            </a:xfrm>
            <a:custGeom>
              <a:avLst/>
              <a:gdLst/>
              <a:ahLst/>
              <a:cxnLst/>
              <a:rect r="r" b="b" t="t" l="l"/>
              <a:pathLst>
                <a:path h="3702710" w="2762250">
                  <a:moveTo>
                    <a:pt x="0" y="3532350"/>
                  </a:moveTo>
                  <a:lnTo>
                    <a:pt x="0" y="170359"/>
                  </a:lnTo>
                  <a:lnTo>
                    <a:pt x="9525" y="170359"/>
                  </a:lnTo>
                  <a:lnTo>
                    <a:pt x="0" y="170359"/>
                  </a:lnTo>
                  <a:cubicBezTo>
                    <a:pt x="0" y="159234"/>
                    <a:pt x="381" y="148108"/>
                    <a:pt x="1143" y="136983"/>
                  </a:cubicBezTo>
                  <a:lnTo>
                    <a:pt x="10541" y="142198"/>
                  </a:lnTo>
                  <a:lnTo>
                    <a:pt x="1143" y="136983"/>
                  </a:lnTo>
                  <a:cubicBezTo>
                    <a:pt x="1905" y="125857"/>
                    <a:pt x="3175" y="115427"/>
                    <a:pt x="4699" y="104997"/>
                  </a:cubicBezTo>
                  <a:lnTo>
                    <a:pt x="13462" y="115080"/>
                  </a:lnTo>
                  <a:lnTo>
                    <a:pt x="4699" y="104997"/>
                  </a:lnTo>
                  <a:cubicBezTo>
                    <a:pt x="6223" y="94567"/>
                    <a:pt x="8128" y="84832"/>
                    <a:pt x="10414" y="75445"/>
                  </a:cubicBezTo>
                  <a:cubicBezTo>
                    <a:pt x="12700" y="66058"/>
                    <a:pt x="15240" y="57366"/>
                    <a:pt x="18161" y="49717"/>
                  </a:cubicBezTo>
                  <a:lnTo>
                    <a:pt x="24892" y="68144"/>
                  </a:lnTo>
                  <a:lnTo>
                    <a:pt x="18161" y="49717"/>
                  </a:lnTo>
                  <a:cubicBezTo>
                    <a:pt x="21082" y="41721"/>
                    <a:pt x="24257" y="34767"/>
                    <a:pt x="27559" y="28509"/>
                  </a:cubicBezTo>
                  <a:lnTo>
                    <a:pt x="32893" y="50065"/>
                  </a:lnTo>
                  <a:lnTo>
                    <a:pt x="27686" y="28857"/>
                  </a:lnTo>
                  <a:cubicBezTo>
                    <a:pt x="31115" y="22599"/>
                    <a:pt x="34671" y="17384"/>
                    <a:pt x="38481" y="13212"/>
                  </a:cubicBezTo>
                  <a:lnTo>
                    <a:pt x="42164" y="37201"/>
                  </a:lnTo>
                  <a:lnTo>
                    <a:pt x="38354" y="12864"/>
                  </a:lnTo>
                  <a:cubicBezTo>
                    <a:pt x="42164" y="8692"/>
                    <a:pt x="45974" y="5215"/>
                    <a:pt x="50038" y="3129"/>
                  </a:cubicBezTo>
                  <a:lnTo>
                    <a:pt x="51943" y="28857"/>
                  </a:lnTo>
                  <a:lnTo>
                    <a:pt x="50038" y="3129"/>
                  </a:lnTo>
                  <a:cubicBezTo>
                    <a:pt x="54102" y="1043"/>
                    <a:pt x="58166" y="0"/>
                    <a:pt x="62230" y="0"/>
                  </a:cubicBezTo>
                  <a:lnTo>
                    <a:pt x="62230" y="26075"/>
                  </a:lnTo>
                  <a:lnTo>
                    <a:pt x="62230" y="0"/>
                  </a:lnTo>
                  <a:lnTo>
                    <a:pt x="2700020" y="0"/>
                  </a:lnTo>
                  <a:lnTo>
                    <a:pt x="2700020" y="26075"/>
                  </a:lnTo>
                  <a:lnTo>
                    <a:pt x="2700020" y="0"/>
                  </a:lnTo>
                  <a:cubicBezTo>
                    <a:pt x="2704084" y="0"/>
                    <a:pt x="2708148" y="1043"/>
                    <a:pt x="2712212" y="3129"/>
                  </a:cubicBezTo>
                  <a:lnTo>
                    <a:pt x="2710307" y="28857"/>
                  </a:lnTo>
                  <a:lnTo>
                    <a:pt x="2712212" y="3129"/>
                  </a:lnTo>
                  <a:cubicBezTo>
                    <a:pt x="2716276" y="5215"/>
                    <a:pt x="2720086" y="8692"/>
                    <a:pt x="2723896" y="12864"/>
                  </a:cubicBezTo>
                  <a:cubicBezTo>
                    <a:pt x="2727706" y="17036"/>
                    <a:pt x="2731262" y="22251"/>
                    <a:pt x="2734691" y="28509"/>
                  </a:cubicBezTo>
                  <a:lnTo>
                    <a:pt x="2729357" y="50065"/>
                  </a:lnTo>
                  <a:lnTo>
                    <a:pt x="2734691" y="28509"/>
                  </a:lnTo>
                  <a:cubicBezTo>
                    <a:pt x="2738120" y="34767"/>
                    <a:pt x="2741295" y="41721"/>
                    <a:pt x="2744089" y="49717"/>
                  </a:cubicBezTo>
                  <a:cubicBezTo>
                    <a:pt x="2747010" y="57714"/>
                    <a:pt x="2749550" y="66405"/>
                    <a:pt x="2751836" y="75445"/>
                  </a:cubicBezTo>
                  <a:cubicBezTo>
                    <a:pt x="2754122" y="84832"/>
                    <a:pt x="2756027" y="94567"/>
                    <a:pt x="2757551" y="104997"/>
                  </a:cubicBezTo>
                  <a:lnTo>
                    <a:pt x="2748788" y="115080"/>
                  </a:lnTo>
                  <a:lnTo>
                    <a:pt x="2757551" y="104997"/>
                  </a:lnTo>
                  <a:cubicBezTo>
                    <a:pt x="2759075" y="115427"/>
                    <a:pt x="2760345" y="125857"/>
                    <a:pt x="2761107" y="136983"/>
                  </a:cubicBezTo>
                  <a:lnTo>
                    <a:pt x="2751709" y="142198"/>
                  </a:lnTo>
                  <a:lnTo>
                    <a:pt x="2761107" y="136983"/>
                  </a:lnTo>
                  <a:cubicBezTo>
                    <a:pt x="2761869" y="148108"/>
                    <a:pt x="2762250" y="158886"/>
                    <a:pt x="2762250" y="170359"/>
                  </a:cubicBezTo>
                  <a:lnTo>
                    <a:pt x="2762250" y="3532350"/>
                  </a:lnTo>
                  <a:cubicBezTo>
                    <a:pt x="2762250" y="3543476"/>
                    <a:pt x="2761869" y="3554601"/>
                    <a:pt x="2761107" y="3565727"/>
                  </a:cubicBezTo>
                  <a:lnTo>
                    <a:pt x="2751709" y="3560511"/>
                  </a:lnTo>
                  <a:lnTo>
                    <a:pt x="2761107" y="3565727"/>
                  </a:lnTo>
                  <a:cubicBezTo>
                    <a:pt x="2760345" y="3576852"/>
                    <a:pt x="2759075" y="3587283"/>
                    <a:pt x="2757551" y="3597713"/>
                  </a:cubicBezTo>
                  <a:cubicBezTo>
                    <a:pt x="2756027" y="3608143"/>
                    <a:pt x="2754122" y="3617878"/>
                    <a:pt x="2751836" y="3627265"/>
                  </a:cubicBezTo>
                  <a:cubicBezTo>
                    <a:pt x="2749550" y="3636652"/>
                    <a:pt x="2747010" y="3645344"/>
                    <a:pt x="2744089" y="3652993"/>
                  </a:cubicBezTo>
                  <a:cubicBezTo>
                    <a:pt x="2741168" y="3660989"/>
                    <a:pt x="2737993" y="3667942"/>
                    <a:pt x="2734691" y="3674201"/>
                  </a:cubicBezTo>
                  <a:cubicBezTo>
                    <a:pt x="2731262" y="3680459"/>
                    <a:pt x="2727706" y="3685673"/>
                    <a:pt x="2723896" y="3689846"/>
                  </a:cubicBezTo>
                  <a:cubicBezTo>
                    <a:pt x="2720086" y="3694018"/>
                    <a:pt x="2716276" y="3697494"/>
                    <a:pt x="2712212" y="3699580"/>
                  </a:cubicBezTo>
                  <a:lnTo>
                    <a:pt x="2710307" y="3673853"/>
                  </a:lnTo>
                  <a:lnTo>
                    <a:pt x="2712212" y="3699580"/>
                  </a:lnTo>
                  <a:cubicBezTo>
                    <a:pt x="2708148" y="3701667"/>
                    <a:pt x="2704211" y="3702710"/>
                    <a:pt x="2700020" y="3702710"/>
                  </a:cubicBezTo>
                  <a:lnTo>
                    <a:pt x="62230" y="3702710"/>
                  </a:lnTo>
                  <a:cubicBezTo>
                    <a:pt x="58166" y="3702710"/>
                    <a:pt x="54102" y="3701667"/>
                    <a:pt x="50038" y="3699580"/>
                  </a:cubicBezTo>
                  <a:lnTo>
                    <a:pt x="51943" y="3673853"/>
                  </a:lnTo>
                  <a:lnTo>
                    <a:pt x="50038" y="3699580"/>
                  </a:lnTo>
                  <a:cubicBezTo>
                    <a:pt x="45974" y="3697494"/>
                    <a:pt x="42164" y="3694018"/>
                    <a:pt x="38354" y="3689846"/>
                  </a:cubicBezTo>
                  <a:lnTo>
                    <a:pt x="42037" y="3665856"/>
                  </a:lnTo>
                  <a:lnTo>
                    <a:pt x="38354" y="3689846"/>
                  </a:lnTo>
                  <a:cubicBezTo>
                    <a:pt x="34544" y="3685673"/>
                    <a:pt x="30988" y="3680459"/>
                    <a:pt x="27559" y="3674201"/>
                  </a:cubicBezTo>
                  <a:cubicBezTo>
                    <a:pt x="24130" y="3667942"/>
                    <a:pt x="20955" y="3660989"/>
                    <a:pt x="18161" y="3652993"/>
                  </a:cubicBezTo>
                  <a:cubicBezTo>
                    <a:pt x="15240" y="3644996"/>
                    <a:pt x="12700" y="3636304"/>
                    <a:pt x="10414" y="3627265"/>
                  </a:cubicBezTo>
                  <a:lnTo>
                    <a:pt x="18288" y="3612662"/>
                  </a:lnTo>
                  <a:lnTo>
                    <a:pt x="10414" y="3627265"/>
                  </a:lnTo>
                  <a:cubicBezTo>
                    <a:pt x="8128" y="3617878"/>
                    <a:pt x="6223" y="3608143"/>
                    <a:pt x="4699" y="3597713"/>
                  </a:cubicBezTo>
                  <a:cubicBezTo>
                    <a:pt x="3175" y="3587283"/>
                    <a:pt x="1905" y="3576852"/>
                    <a:pt x="1143" y="3565727"/>
                  </a:cubicBezTo>
                  <a:cubicBezTo>
                    <a:pt x="381" y="3554601"/>
                    <a:pt x="0" y="3543824"/>
                    <a:pt x="0" y="3532350"/>
                  </a:cubicBezTo>
                  <a:lnTo>
                    <a:pt x="9525" y="3532350"/>
                  </a:lnTo>
                  <a:lnTo>
                    <a:pt x="0" y="3532350"/>
                  </a:lnTo>
                  <a:moveTo>
                    <a:pt x="19050" y="3532350"/>
                  </a:moveTo>
                  <a:cubicBezTo>
                    <a:pt x="19050" y="3539999"/>
                    <a:pt x="19304" y="3547647"/>
                    <a:pt x="19939" y="3555297"/>
                  </a:cubicBezTo>
                  <a:lnTo>
                    <a:pt x="10541" y="3560511"/>
                  </a:lnTo>
                  <a:lnTo>
                    <a:pt x="19939" y="3555297"/>
                  </a:lnTo>
                  <a:cubicBezTo>
                    <a:pt x="20447" y="3562945"/>
                    <a:pt x="21336" y="3570246"/>
                    <a:pt x="22352" y="3577548"/>
                  </a:cubicBezTo>
                  <a:lnTo>
                    <a:pt x="13589" y="3587630"/>
                  </a:lnTo>
                  <a:lnTo>
                    <a:pt x="22352" y="3577548"/>
                  </a:lnTo>
                  <a:cubicBezTo>
                    <a:pt x="23495" y="3584849"/>
                    <a:pt x="24765" y="3591454"/>
                    <a:pt x="26289" y="3598060"/>
                  </a:cubicBezTo>
                  <a:cubicBezTo>
                    <a:pt x="27813" y="3604666"/>
                    <a:pt x="29591" y="3610577"/>
                    <a:pt x="31623" y="3616139"/>
                  </a:cubicBezTo>
                  <a:lnTo>
                    <a:pt x="24892" y="3634566"/>
                  </a:lnTo>
                  <a:lnTo>
                    <a:pt x="31623" y="3616139"/>
                  </a:lnTo>
                  <a:cubicBezTo>
                    <a:pt x="33655" y="3621702"/>
                    <a:pt x="35814" y="3626569"/>
                    <a:pt x="38227" y="3630742"/>
                  </a:cubicBezTo>
                  <a:lnTo>
                    <a:pt x="32893" y="3652297"/>
                  </a:lnTo>
                  <a:lnTo>
                    <a:pt x="38227" y="3630742"/>
                  </a:lnTo>
                  <a:cubicBezTo>
                    <a:pt x="40640" y="3634913"/>
                    <a:pt x="43053" y="3638738"/>
                    <a:pt x="45720" y="3641519"/>
                  </a:cubicBezTo>
                  <a:cubicBezTo>
                    <a:pt x="48387" y="3644301"/>
                    <a:pt x="51054" y="3646734"/>
                    <a:pt x="53848" y="3648125"/>
                  </a:cubicBezTo>
                  <a:cubicBezTo>
                    <a:pt x="56642" y="3649516"/>
                    <a:pt x="59436" y="3650559"/>
                    <a:pt x="62230" y="3650559"/>
                  </a:cubicBezTo>
                  <a:lnTo>
                    <a:pt x="62230" y="3676634"/>
                  </a:lnTo>
                  <a:lnTo>
                    <a:pt x="62230" y="3650559"/>
                  </a:lnTo>
                  <a:lnTo>
                    <a:pt x="2700020" y="3650559"/>
                  </a:lnTo>
                  <a:lnTo>
                    <a:pt x="2700020" y="3676634"/>
                  </a:lnTo>
                  <a:lnTo>
                    <a:pt x="2700020" y="3650559"/>
                  </a:lnTo>
                  <a:cubicBezTo>
                    <a:pt x="2702814" y="3650559"/>
                    <a:pt x="2705608" y="3649864"/>
                    <a:pt x="2708402" y="3648125"/>
                  </a:cubicBezTo>
                  <a:cubicBezTo>
                    <a:pt x="2711196" y="3646387"/>
                    <a:pt x="2713863" y="3644301"/>
                    <a:pt x="2716530" y="3641519"/>
                  </a:cubicBezTo>
                  <a:lnTo>
                    <a:pt x="2720213" y="3665509"/>
                  </a:lnTo>
                  <a:lnTo>
                    <a:pt x="2716530" y="3641519"/>
                  </a:lnTo>
                  <a:cubicBezTo>
                    <a:pt x="2719197" y="3638390"/>
                    <a:pt x="2721610" y="3634914"/>
                    <a:pt x="2724023" y="3630742"/>
                  </a:cubicBezTo>
                  <a:lnTo>
                    <a:pt x="2729357" y="3652297"/>
                  </a:lnTo>
                  <a:lnTo>
                    <a:pt x="2724023" y="3630742"/>
                  </a:lnTo>
                  <a:cubicBezTo>
                    <a:pt x="2726436" y="3626569"/>
                    <a:pt x="2728595" y="3621702"/>
                    <a:pt x="2730627" y="3616139"/>
                  </a:cubicBezTo>
                  <a:lnTo>
                    <a:pt x="2737358" y="3634566"/>
                  </a:lnTo>
                  <a:lnTo>
                    <a:pt x="2730500" y="3615792"/>
                  </a:lnTo>
                  <a:cubicBezTo>
                    <a:pt x="2732532" y="3610229"/>
                    <a:pt x="2734310" y="3604318"/>
                    <a:pt x="2735834" y="3597713"/>
                  </a:cubicBezTo>
                  <a:lnTo>
                    <a:pt x="2743708" y="3612315"/>
                  </a:lnTo>
                  <a:lnTo>
                    <a:pt x="2735834" y="3597713"/>
                  </a:lnTo>
                  <a:cubicBezTo>
                    <a:pt x="2737358" y="3591107"/>
                    <a:pt x="2738755" y="3584501"/>
                    <a:pt x="2739771" y="3577200"/>
                  </a:cubicBezTo>
                  <a:lnTo>
                    <a:pt x="2748534" y="3587283"/>
                  </a:lnTo>
                  <a:lnTo>
                    <a:pt x="2739771" y="3577200"/>
                  </a:lnTo>
                  <a:cubicBezTo>
                    <a:pt x="2740914" y="3569899"/>
                    <a:pt x="2741676" y="3562598"/>
                    <a:pt x="2742184" y="3554949"/>
                  </a:cubicBezTo>
                  <a:cubicBezTo>
                    <a:pt x="2742692" y="3547300"/>
                    <a:pt x="2743073" y="3539651"/>
                    <a:pt x="2743073" y="3532003"/>
                  </a:cubicBezTo>
                  <a:lnTo>
                    <a:pt x="2752598" y="3532003"/>
                  </a:lnTo>
                  <a:lnTo>
                    <a:pt x="2743200" y="3532003"/>
                  </a:lnTo>
                  <a:lnTo>
                    <a:pt x="2743200" y="170359"/>
                  </a:lnTo>
                  <a:lnTo>
                    <a:pt x="2752725" y="170359"/>
                  </a:lnTo>
                  <a:lnTo>
                    <a:pt x="2743200" y="170359"/>
                  </a:lnTo>
                  <a:cubicBezTo>
                    <a:pt x="2743200" y="162711"/>
                    <a:pt x="2742946" y="155062"/>
                    <a:pt x="2742311" y="147413"/>
                  </a:cubicBezTo>
                  <a:cubicBezTo>
                    <a:pt x="2741803" y="139764"/>
                    <a:pt x="2740914" y="132463"/>
                    <a:pt x="2739898" y="125162"/>
                  </a:cubicBezTo>
                  <a:cubicBezTo>
                    <a:pt x="2738755" y="117861"/>
                    <a:pt x="2737485" y="111255"/>
                    <a:pt x="2735961" y="104649"/>
                  </a:cubicBezTo>
                  <a:lnTo>
                    <a:pt x="2743835" y="90047"/>
                  </a:lnTo>
                  <a:lnTo>
                    <a:pt x="2735961" y="104649"/>
                  </a:lnTo>
                  <a:cubicBezTo>
                    <a:pt x="2734437" y="98044"/>
                    <a:pt x="2732659" y="92133"/>
                    <a:pt x="2730627" y="86570"/>
                  </a:cubicBezTo>
                  <a:lnTo>
                    <a:pt x="2737358" y="68144"/>
                  </a:lnTo>
                  <a:lnTo>
                    <a:pt x="2730627" y="86570"/>
                  </a:lnTo>
                  <a:cubicBezTo>
                    <a:pt x="2728595" y="81008"/>
                    <a:pt x="2726436" y="76140"/>
                    <a:pt x="2724023" y="71968"/>
                  </a:cubicBezTo>
                  <a:cubicBezTo>
                    <a:pt x="2721610" y="67796"/>
                    <a:pt x="2719197" y="63972"/>
                    <a:pt x="2716530" y="61190"/>
                  </a:cubicBezTo>
                  <a:lnTo>
                    <a:pt x="2720213" y="37201"/>
                  </a:lnTo>
                  <a:lnTo>
                    <a:pt x="2716530" y="61190"/>
                  </a:lnTo>
                  <a:cubicBezTo>
                    <a:pt x="2713863" y="58061"/>
                    <a:pt x="2711196" y="55975"/>
                    <a:pt x="2708402" y="54585"/>
                  </a:cubicBezTo>
                  <a:cubicBezTo>
                    <a:pt x="2705608" y="53194"/>
                    <a:pt x="2702814" y="52151"/>
                    <a:pt x="2700020" y="52151"/>
                  </a:cubicBezTo>
                  <a:lnTo>
                    <a:pt x="62230" y="52151"/>
                  </a:lnTo>
                  <a:cubicBezTo>
                    <a:pt x="59436" y="52151"/>
                    <a:pt x="56642" y="52846"/>
                    <a:pt x="53848" y="54585"/>
                  </a:cubicBezTo>
                  <a:cubicBezTo>
                    <a:pt x="51054" y="56323"/>
                    <a:pt x="48387" y="58409"/>
                    <a:pt x="45720" y="61190"/>
                  </a:cubicBezTo>
                  <a:cubicBezTo>
                    <a:pt x="43053" y="63972"/>
                    <a:pt x="40640" y="67796"/>
                    <a:pt x="38227" y="71968"/>
                  </a:cubicBezTo>
                  <a:cubicBezTo>
                    <a:pt x="35814" y="76140"/>
                    <a:pt x="33655" y="81008"/>
                    <a:pt x="31623" y="86570"/>
                  </a:cubicBezTo>
                  <a:cubicBezTo>
                    <a:pt x="29591" y="92133"/>
                    <a:pt x="27813" y="98044"/>
                    <a:pt x="26289" y="104649"/>
                  </a:cubicBezTo>
                  <a:lnTo>
                    <a:pt x="18415" y="90047"/>
                  </a:lnTo>
                  <a:lnTo>
                    <a:pt x="26289" y="104649"/>
                  </a:lnTo>
                  <a:cubicBezTo>
                    <a:pt x="24765" y="111255"/>
                    <a:pt x="23368" y="117861"/>
                    <a:pt x="22352" y="125162"/>
                  </a:cubicBezTo>
                  <a:cubicBezTo>
                    <a:pt x="21209" y="132463"/>
                    <a:pt x="20447" y="139764"/>
                    <a:pt x="19939" y="147413"/>
                  </a:cubicBezTo>
                  <a:cubicBezTo>
                    <a:pt x="19431" y="155062"/>
                    <a:pt x="19050" y="162711"/>
                    <a:pt x="19050" y="170359"/>
                  </a:cubicBezTo>
                  <a:lnTo>
                    <a:pt x="19050" y="353235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257550" y="2219325"/>
            <a:ext cx="2762250" cy="3702710"/>
            <a:chOff x="0" y="0"/>
            <a:chExt cx="2762250" cy="3702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2250" cy="3702710"/>
            </a:xfrm>
            <a:custGeom>
              <a:avLst/>
              <a:gdLst/>
              <a:ahLst/>
              <a:cxnLst/>
              <a:rect r="r" b="b" t="t" l="l"/>
              <a:pathLst>
                <a:path h="3702710" w="2762250">
                  <a:moveTo>
                    <a:pt x="0" y="3532350"/>
                  </a:moveTo>
                  <a:lnTo>
                    <a:pt x="0" y="170359"/>
                  </a:lnTo>
                  <a:lnTo>
                    <a:pt x="9525" y="170359"/>
                  </a:lnTo>
                  <a:lnTo>
                    <a:pt x="0" y="170359"/>
                  </a:lnTo>
                  <a:cubicBezTo>
                    <a:pt x="0" y="159234"/>
                    <a:pt x="381" y="148108"/>
                    <a:pt x="1143" y="136983"/>
                  </a:cubicBezTo>
                  <a:lnTo>
                    <a:pt x="10541" y="142198"/>
                  </a:lnTo>
                  <a:lnTo>
                    <a:pt x="1143" y="136983"/>
                  </a:lnTo>
                  <a:cubicBezTo>
                    <a:pt x="1905" y="125857"/>
                    <a:pt x="3175" y="115427"/>
                    <a:pt x="4699" y="104997"/>
                  </a:cubicBezTo>
                  <a:cubicBezTo>
                    <a:pt x="6223" y="94567"/>
                    <a:pt x="8128" y="84832"/>
                    <a:pt x="10414" y="75445"/>
                  </a:cubicBezTo>
                  <a:lnTo>
                    <a:pt x="18288" y="90047"/>
                  </a:lnTo>
                  <a:lnTo>
                    <a:pt x="10414" y="75445"/>
                  </a:lnTo>
                  <a:cubicBezTo>
                    <a:pt x="12700" y="66058"/>
                    <a:pt x="15240" y="57366"/>
                    <a:pt x="18161" y="49717"/>
                  </a:cubicBezTo>
                  <a:lnTo>
                    <a:pt x="24892" y="68144"/>
                  </a:lnTo>
                  <a:lnTo>
                    <a:pt x="18161" y="49717"/>
                  </a:lnTo>
                  <a:cubicBezTo>
                    <a:pt x="21082" y="41721"/>
                    <a:pt x="24257" y="34767"/>
                    <a:pt x="27559" y="28509"/>
                  </a:cubicBezTo>
                  <a:lnTo>
                    <a:pt x="32893" y="50065"/>
                  </a:lnTo>
                  <a:lnTo>
                    <a:pt x="27686" y="28857"/>
                  </a:lnTo>
                  <a:cubicBezTo>
                    <a:pt x="31115" y="22599"/>
                    <a:pt x="34671" y="17384"/>
                    <a:pt x="38481" y="13212"/>
                  </a:cubicBezTo>
                  <a:lnTo>
                    <a:pt x="42164" y="37201"/>
                  </a:lnTo>
                  <a:lnTo>
                    <a:pt x="38354" y="12864"/>
                  </a:lnTo>
                  <a:cubicBezTo>
                    <a:pt x="42164" y="8692"/>
                    <a:pt x="45974" y="5215"/>
                    <a:pt x="50038" y="3129"/>
                  </a:cubicBezTo>
                  <a:cubicBezTo>
                    <a:pt x="54102" y="1043"/>
                    <a:pt x="58166" y="0"/>
                    <a:pt x="62230" y="0"/>
                  </a:cubicBezTo>
                  <a:lnTo>
                    <a:pt x="62230" y="26075"/>
                  </a:lnTo>
                  <a:lnTo>
                    <a:pt x="62230" y="0"/>
                  </a:lnTo>
                  <a:lnTo>
                    <a:pt x="2700020" y="0"/>
                  </a:lnTo>
                  <a:lnTo>
                    <a:pt x="2700020" y="26075"/>
                  </a:lnTo>
                  <a:lnTo>
                    <a:pt x="2700020" y="0"/>
                  </a:lnTo>
                  <a:cubicBezTo>
                    <a:pt x="2704084" y="0"/>
                    <a:pt x="2708148" y="1043"/>
                    <a:pt x="2712212" y="3129"/>
                  </a:cubicBezTo>
                  <a:lnTo>
                    <a:pt x="2710307" y="28857"/>
                  </a:lnTo>
                  <a:lnTo>
                    <a:pt x="2712212" y="3129"/>
                  </a:lnTo>
                  <a:cubicBezTo>
                    <a:pt x="2716276" y="5215"/>
                    <a:pt x="2720086" y="8692"/>
                    <a:pt x="2723896" y="12864"/>
                  </a:cubicBezTo>
                  <a:cubicBezTo>
                    <a:pt x="2727706" y="17036"/>
                    <a:pt x="2731262" y="22251"/>
                    <a:pt x="2734691" y="28509"/>
                  </a:cubicBezTo>
                  <a:lnTo>
                    <a:pt x="2729357" y="50065"/>
                  </a:lnTo>
                  <a:lnTo>
                    <a:pt x="2734691" y="28509"/>
                  </a:lnTo>
                  <a:cubicBezTo>
                    <a:pt x="2738120" y="34767"/>
                    <a:pt x="2741295" y="41721"/>
                    <a:pt x="2744089" y="49717"/>
                  </a:cubicBezTo>
                  <a:lnTo>
                    <a:pt x="2737358" y="68144"/>
                  </a:lnTo>
                  <a:lnTo>
                    <a:pt x="2744089" y="49717"/>
                  </a:lnTo>
                  <a:cubicBezTo>
                    <a:pt x="2747010" y="57714"/>
                    <a:pt x="2749550" y="66405"/>
                    <a:pt x="2751836" y="75445"/>
                  </a:cubicBezTo>
                  <a:lnTo>
                    <a:pt x="2743962" y="90047"/>
                  </a:lnTo>
                  <a:lnTo>
                    <a:pt x="2751836" y="75445"/>
                  </a:lnTo>
                  <a:cubicBezTo>
                    <a:pt x="2754122" y="84832"/>
                    <a:pt x="2756027" y="94567"/>
                    <a:pt x="2757551" y="104997"/>
                  </a:cubicBezTo>
                  <a:cubicBezTo>
                    <a:pt x="2759075" y="115427"/>
                    <a:pt x="2760345" y="125857"/>
                    <a:pt x="2761107" y="136983"/>
                  </a:cubicBezTo>
                  <a:lnTo>
                    <a:pt x="2751709" y="142198"/>
                  </a:lnTo>
                  <a:lnTo>
                    <a:pt x="2761107" y="136983"/>
                  </a:lnTo>
                  <a:cubicBezTo>
                    <a:pt x="2761869" y="148108"/>
                    <a:pt x="2762250" y="158886"/>
                    <a:pt x="2762250" y="170359"/>
                  </a:cubicBezTo>
                  <a:lnTo>
                    <a:pt x="2752725" y="170359"/>
                  </a:lnTo>
                  <a:lnTo>
                    <a:pt x="2762250" y="170359"/>
                  </a:lnTo>
                  <a:lnTo>
                    <a:pt x="2762250" y="3532350"/>
                  </a:lnTo>
                  <a:lnTo>
                    <a:pt x="2752725" y="3532350"/>
                  </a:lnTo>
                  <a:lnTo>
                    <a:pt x="2762250" y="3532350"/>
                  </a:lnTo>
                  <a:cubicBezTo>
                    <a:pt x="2762250" y="3543476"/>
                    <a:pt x="2761869" y="3554601"/>
                    <a:pt x="2761107" y="3565727"/>
                  </a:cubicBezTo>
                  <a:lnTo>
                    <a:pt x="2751709" y="3560511"/>
                  </a:lnTo>
                  <a:lnTo>
                    <a:pt x="2761107" y="3565727"/>
                  </a:lnTo>
                  <a:cubicBezTo>
                    <a:pt x="2760345" y="3576852"/>
                    <a:pt x="2759075" y="3587283"/>
                    <a:pt x="2757551" y="3597713"/>
                  </a:cubicBezTo>
                  <a:cubicBezTo>
                    <a:pt x="2756027" y="3608143"/>
                    <a:pt x="2754122" y="3617878"/>
                    <a:pt x="2751836" y="3627265"/>
                  </a:cubicBezTo>
                  <a:lnTo>
                    <a:pt x="2743962" y="3612662"/>
                  </a:lnTo>
                  <a:lnTo>
                    <a:pt x="2751836" y="3627265"/>
                  </a:lnTo>
                  <a:cubicBezTo>
                    <a:pt x="2749550" y="3636652"/>
                    <a:pt x="2747010" y="3645344"/>
                    <a:pt x="2744089" y="3652993"/>
                  </a:cubicBezTo>
                  <a:cubicBezTo>
                    <a:pt x="2741168" y="3660989"/>
                    <a:pt x="2737993" y="3667942"/>
                    <a:pt x="2734691" y="3674201"/>
                  </a:cubicBezTo>
                  <a:lnTo>
                    <a:pt x="2729357" y="3652645"/>
                  </a:lnTo>
                  <a:lnTo>
                    <a:pt x="2734691" y="3674201"/>
                  </a:lnTo>
                  <a:cubicBezTo>
                    <a:pt x="2731262" y="3680459"/>
                    <a:pt x="2727706" y="3685673"/>
                    <a:pt x="2723896" y="3689846"/>
                  </a:cubicBezTo>
                  <a:cubicBezTo>
                    <a:pt x="2720086" y="3694018"/>
                    <a:pt x="2716276" y="3697494"/>
                    <a:pt x="2712212" y="3699580"/>
                  </a:cubicBezTo>
                  <a:lnTo>
                    <a:pt x="2710307" y="3673853"/>
                  </a:lnTo>
                  <a:lnTo>
                    <a:pt x="2712212" y="3699580"/>
                  </a:lnTo>
                  <a:cubicBezTo>
                    <a:pt x="2708148" y="3701667"/>
                    <a:pt x="2704211" y="3702710"/>
                    <a:pt x="2700020" y="3702710"/>
                  </a:cubicBezTo>
                  <a:lnTo>
                    <a:pt x="62230" y="3702710"/>
                  </a:lnTo>
                  <a:cubicBezTo>
                    <a:pt x="58166" y="3702710"/>
                    <a:pt x="54102" y="3701667"/>
                    <a:pt x="50038" y="3699580"/>
                  </a:cubicBezTo>
                  <a:cubicBezTo>
                    <a:pt x="45974" y="3697494"/>
                    <a:pt x="42164" y="3694018"/>
                    <a:pt x="38354" y="3689846"/>
                  </a:cubicBezTo>
                  <a:lnTo>
                    <a:pt x="42037" y="3665856"/>
                  </a:lnTo>
                  <a:lnTo>
                    <a:pt x="38354" y="3689846"/>
                  </a:lnTo>
                  <a:cubicBezTo>
                    <a:pt x="34544" y="3685673"/>
                    <a:pt x="30988" y="3680459"/>
                    <a:pt x="27559" y="3674201"/>
                  </a:cubicBezTo>
                  <a:cubicBezTo>
                    <a:pt x="24130" y="3667942"/>
                    <a:pt x="20955" y="3660989"/>
                    <a:pt x="18161" y="3652993"/>
                  </a:cubicBezTo>
                  <a:lnTo>
                    <a:pt x="24892" y="3634566"/>
                  </a:lnTo>
                  <a:lnTo>
                    <a:pt x="18161" y="3652993"/>
                  </a:lnTo>
                  <a:cubicBezTo>
                    <a:pt x="15240" y="3644996"/>
                    <a:pt x="12700" y="3636304"/>
                    <a:pt x="10414" y="3627265"/>
                  </a:cubicBezTo>
                  <a:lnTo>
                    <a:pt x="18288" y="3612662"/>
                  </a:lnTo>
                  <a:lnTo>
                    <a:pt x="10414" y="3627265"/>
                  </a:lnTo>
                  <a:cubicBezTo>
                    <a:pt x="8128" y="3617878"/>
                    <a:pt x="6223" y="3608143"/>
                    <a:pt x="4699" y="3597713"/>
                  </a:cubicBezTo>
                  <a:cubicBezTo>
                    <a:pt x="3175" y="3587283"/>
                    <a:pt x="1905" y="3576852"/>
                    <a:pt x="1143" y="3565727"/>
                  </a:cubicBezTo>
                  <a:lnTo>
                    <a:pt x="10541" y="3560511"/>
                  </a:lnTo>
                  <a:lnTo>
                    <a:pt x="1143" y="3565727"/>
                  </a:lnTo>
                  <a:cubicBezTo>
                    <a:pt x="381" y="3554601"/>
                    <a:pt x="0" y="3543824"/>
                    <a:pt x="0" y="3532350"/>
                  </a:cubicBezTo>
                  <a:lnTo>
                    <a:pt x="9525" y="3532350"/>
                  </a:lnTo>
                  <a:lnTo>
                    <a:pt x="0" y="3532350"/>
                  </a:lnTo>
                  <a:moveTo>
                    <a:pt x="19050" y="3532350"/>
                  </a:moveTo>
                  <a:cubicBezTo>
                    <a:pt x="19050" y="3539999"/>
                    <a:pt x="19304" y="3547647"/>
                    <a:pt x="19939" y="3555297"/>
                  </a:cubicBezTo>
                  <a:cubicBezTo>
                    <a:pt x="20574" y="3562945"/>
                    <a:pt x="21336" y="3570246"/>
                    <a:pt x="22352" y="3577548"/>
                  </a:cubicBezTo>
                  <a:lnTo>
                    <a:pt x="13589" y="3587630"/>
                  </a:lnTo>
                  <a:lnTo>
                    <a:pt x="22352" y="3577548"/>
                  </a:lnTo>
                  <a:cubicBezTo>
                    <a:pt x="23495" y="3584849"/>
                    <a:pt x="24765" y="3591454"/>
                    <a:pt x="26289" y="3598060"/>
                  </a:cubicBezTo>
                  <a:cubicBezTo>
                    <a:pt x="27813" y="3604666"/>
                    <a:pt x="29591" y="3610577"/>
                    <a:pt x="31623" y="3616139"/>
                  </a:cubicBezTo>
                  <a:cubicBezTo>
                    <a:pt x="33655" y="3621702"/>
                    <a:pt x="35814" y="3626569"/>
                    <a:pt x="38227" y="3630742"/>
                  </a:cubicBezTo>
                  <a:lnTo>
                    <a:pt x="32893" y="3652297"/>
                  </a:lnTo>
                  <a:lnTo>
                    <a:pt x="38227" y="3630742"/>
                  </a:lnTo>
                  <a:cubicBezTo>
                    <a:pt x="40640" y="3634913"/>
                    <a:pt x="43053" y="3638738"/>
                    <a:pt x="45720" y="3641519"/>
                  </a:cubicBezTo>
                  <a:cubicBezTo>
                    <a:pt x="48387" y="3644301"/>
                    <a:pt x="51054" y="3646734"/>
                    <a:pt x="53848" y="3648125"/>
                  </a:cubicBezTo>
                  <a:lnTo>
                    <a:pt x="51943" y="3673853"/>
                  </a:lnTo>
                  <a:lnTo>
                    <a:pt x="53848" y="3648125"/>
                  </a:lnTo>
                  <a:cubicBezTo>
                    <a:pt x="56642" y="3649516"/>
                    <a:pt x="59436" y="3650559"/>
                    <a:pt x="62230" y="3650559"/>
                  </a:cubicBezTo>
                  <a:lnTo>
                    <a:pt x="62230" y="3676634"/>
                  </a:lnTo>
                  <a:lnTo>
                    <a:pt x="62230" y="3650559"/>
                  </a:lnTo>
                  <a:lnTo>
                    <a:pt x="2700020" y="3650559"/>
                  </a:lnTo>
                  <a:lnTo>
                    <a:pt x="2700020" y="3676634"/>
                  </a:lnTo>
                  <a:lnTo>
                    <a:pt x="2700020" y="3650559"/>
                  </a:lnTo>
                  <a:cubicBezTo>
                    <a:pt x="2702814" y="3650559"/>
                    <a:pt x="2705608" y="3649864"/>
                    <a:pt x="2708402" y="3648125"/>
                  </a:cubicBezTo>
                  <a:cubicBezTo>
                    <a:pt x="2711196" y="3646734"/>
                    <a:pt x="2713863" y="3644301"/>
                    <a:pt x="2716530" y="3641519"/>
                  </a:cubicBezTo>
                  <a:lnTo>
                    <a:pt x="2720213" y="3665509"/>
                  </a:lnTo>
                  <a:lnTo>
                    <a:pt x="2716530" y="3641519"/>
                  </a:lnTo>
                  <a:cubicBezTo>
                    <a:pt x="2719197" y="3638390"/>
                    <a:pt x="2721610" y="3634914"/>
                    <a:pt x="2724023" y="3630742"/>
                  </a:cubicBezTo>
                  <a:cubicBezTo>
                    <a:pt x="2726436" y="3626569"/>
                    <a:pt x="2728595" y="3621702"/>
                    <a:pt x="2730627" y="3616139"/>
                  </a:cubicBezTo>
                  <a:lnTo>
                    <a:pt x="2737358" y="3634566"/>
                  </a:lnTo>
                  <a:lnTo>
                    <a:pt x="2730500" y="3615792"/>
                  </a:lnTo>
                  <a:cubicBezTo>
                    <a:pt x="2732532" y="3610229"/>
                    <a:pt x="2734310" y="3604318"/>
                    <a:pt x="2735834" y="3597713"/>
                  </a:cubicBezTo>
                  <a:cubicBezTo>
                    <a:pt x="2737358" y="3591107"/>
                    <a:pt x="2738755" y="3584501"/>
                    <a:pt x="2739771" y="3577200"/>
                  </a:cubicBezTo>
                  <a:lnTo>
                    <a:pt x="2748534" y="3587283"/>
                  </a:lnTo>
                  <a:lnTo>
                    <a:pt x="2739771" y="3577200"/>
                  </a:lnTo>
                  <a:cubicBezTo>
                    <a:pt x="2740914" y="3569899"/>
                    <a:pt x="2741676" y="3562598"/>
                    <a:pt x="2742184" y="3554949"/>
                  </a:cubicBezTo>
                  <a:cubicBezTo>
                    <a:pt x="2742692" y="3547300"/>
                    <a:pt x="2743073" y="3539651"/>
                    <a:pt x="2743073" y="3532003"/>
                  </a:cubicBezTo>
                  <a:lnTo>
                    <a:pt x="2743073" y="170359"/>
                  </a:lnTo>
                  <a:cubicBezTo>
                    <a:pt x="2743073" y="162711"/>
                    <a:pt x="2742819" y="155062"/>
                    <a:pt x="2742184" y="147413"/>
                  </a:cubicBezTo>
                  <a:cubicBezTo>
                    <a:pt x="2741549" y="139764"/>
                    <a:pt x="2740787" y="132463"/>
                    <a:pt x="2739771" y="125162"/>
                  </a:cubicBezTo>
                  <a:lnTo>
                    <a:pt x="2748534" y="115080"/>
                  </a:lnTo>
                  <a:lnTo>
                    <a:pt x="2739771" y="125162"/>
                  </a:lnTo>
                  <a:cubicBezTo>
                    <a:pt x="2738628" y="117861"/>
                    <a:pt x="2737358" y="111255"/>
                    <a:pt x="2735834" y="104649"/>
                  </a:cubicBezTo>
                  <a:cubicBezTo>
                    <a:pt x="2734310" y="98044"/>
                    <a:pt x="2732532" y="92133"/>
                    <a:pt x="2730500" y="86570"/>
                  </a:cubicBezTo>
                  <a:cubicBezTo>
                    <a:pt x="2728468" y="81008"/>
                    <a:pt x="2726309" y="76140"/>
                    <a:pt x="2723896" y="71968"/>
                  </a:cubicBezTo>
                  <a:cubicBezTo>
                    <a:pt x="2721483" y="67796"/>
                    <a:pt x="2719070" y="63972"/>
                    <a:pt x="2716403" y="61190"/>
                  </a:cubicBezTo>
                  <a:lnTo>
                    <a:pt x="2720086" y="37201"/>
                  </a:lnTo>
                  <a:lnTo>
                    <a:pt x="2716403" y="61190"/>
                  </a:lnTo>
                  <a:cubicBezTo>
                    <a:pt x="2713736" y="58061"/>
                    <a:pt x="2711069" y="55975"/>
                    <a:pt x="2708275" y="54585"/>
                  </a:cubicBezTo>
                  <a:cubicBezTo>
                    <a:pt x="2705481" y="53194"/>
                    <a:pt x="2702687" y="52151"/>
                    <a:pt x="2699893" y="52151"/>
                  </a:cubicBezTo>
                  <a:lnTo>
                    <a:pt x="62230" y="52151"/>
                  </a:lnTo>
                  <a:cubicBezTo>
                    <a:pt x="59436" y="52151"/>
                    <a:pt x="56642" y="52846"/>
                    <a:pt x="53848" y="54585"/>
                  </a:cubicBezTo>
                  <a:lnTo>
                    <a:pt x="51943" y="28857"/>
                  </a:lnTo>
                  <a:lnTo>
                    <a:pt x="53848" y="54585"/>
                  </a:lnTo>
                  <a:cubicBezTo>
                    <a:pt x="51054" y="55975"/>
                    <a:pt x="48387" y="58409"/>
                    <a:pt x="45720" y="61190"/>
                  </a:cubicBezTo>
                  <a:cubicBezTo>
                    <a:pt x="43053" y="63972"/>
                    <a:pt x="40640" y="67796"/>
                    <a:pt x="38227" y="71968"/>
                  </a:cubicBezTo>
                  <a:cubicBezTo>
                    <a:pt x="35814" y="76140"/>
                    <a:pt x="33655" y="81008"/>
                    <a:pt x="31623" y="86570"/>
                  </a:cubicBezTo>
                  <a:cubicBezTo>
                    <a:pt x="29591" y="92133"/>
                    <a:pt x="27813" y="98044"/>
                    <a:pt x="26289" y="104649"/>
                  </a:cubicBezTo>
                  <a:cubicBezTo>
                    <a:pt x="24765" y="111255"/>
                    <a:pt x="23368" y="117861"/>
                    <a:pt x="22352" y="125162"/>
                  </a:cubicBezTo>
                  <a:lnTo>
                    <a:pt x="13589" y="115080"/>
                  </a:lnTo>
                  <a:lnTo>
                    <a:pt x="22352" y="125162"/>
                  </a:lnTo>
                  <a:cubicBezTo>
                    <a:pt x="21209" y="132463"/>
                    <a:pt x="20447" y="139764"/>
                    <a:pt x="19939" y="147413"/>
                  </a:cubicBezTo>
                  <a:cubicBezTo>
                    <a:pt x="19431" y="155062"/>
                    <a:pt x="19050" y="162711"/>
                    <a:pt x="19050" y="170359"/>
                  </a:cubicBezTo>
                  <a:lnTo>
                    <a:pt x="19050" y="353235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2200" y="2219325"/>
            <a:ext cx="2762250" cy="3702710"/>
            <a:chOff x="0" y="0"/>
            <a:chExt cx="2762250" cy="37027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62250" cy="3702710"/>
            </a:xfrm>
            <a:custGeom>
              <a:avLst/>
              <a:gdLst/>
              <a:ahLst/>
              <a:cxnLst/>
              <a:rect r="r" b="b" t="t" l="l"/>
              <a:pathLst>
                <a:path h="3702710" w="2762250">
                  <a:moveTo>
                    <a:pt x="0" y="3532350"/>
                  </a:moveTo>
                  <a:lnTo>
                    <a:pt x="0" y="170359"/>
                  </a:lnTo>
                  <a:lnTo>
                    <a:pt x="9525" y="170359"/>
                  </a:lnTo>
                  <a:lnTo>
                    <a:pt x="0" y="170359"/>
                  </a:lnTo>
                  <a:cubicBezTo>
                    <a:pt x="0" y="159234"/>
                    <a:pt x="381" y="148108"/>
                    <a:pt x="1143" y="136983"/>
                  </a:cubicBezTo>
                  <a:lnTo>
                    <a:pt x="10541" y="142198"/>
                  </a:lnTo>
                  <a:lnTo>
                    <a:pt x="1143" y="136983"/>
                  </a:lnTo>
                  <a:cubicBezTo>
                    <a:pt x="1905" y="125857"/>
                    <a:pt x="3175" y="115427"/>
                    <a:pt x="4699" y="104997"/>
                  </a:cubicBezTo>
                  <a:lnTo>
                    <a:pt x="13462" y="115080"/>
                  </a:lnTo>
                  <a:lnTo>
                    <a:pt x="4699" y="104997"/>
                  </a:lnTo>
                  <a:cubicBezTo>
                    <a:pt x="6223" y="94567"/>
                    <a:pt x="8128" y="84832"/>
                    <a:pt x="10414" y="75445"/>
                  </a:cubicBezTo>
                  <a:lnTo>
                    <a:pt x="18288" y="90047"/>
                  </a:lnTo>
                  <a:lnTo>
                    <a:pt x="10414" y="75445"/>
                  </a:lnTo>
                  <a:cubicBezTo>
                    <a:pt x="12700" y="66058"/>
                    <a:pt x="15240" y="57366"/>
                    <a:pt x="18161" y="49717"/>
                  </a:cubicBezTo>
                  <a:lnTo>
                    <a:pt x="24892" y="68144"/>
                  </a:lnTo>
                  <a:lnTo>
                    <a:pt x="18161" y="49717"/>
                  </a:lnTo>
                  <a:cubicBezTo>
                    <a:pt x="21082" y="41721"/>
                    <a:pt x="24257" y="34767"/>
                    <a:pt x="27559" y="28509"/>
                  </a:cubicBezTo>
                  <a:lnTo>
                    <a:pt x="32893" y="50065"/>
                  </a:lnTo>
                  <a:lnTo>
                    <a:pt x="27686" y="28857"/>
                  </a:lnTo>
                  <a:cubicBezTo>
                    <a:pt x="31115" y="22599"/>
                    <a:pt x="34671" y="17384"/>
                    <a:pt x="38481" y="13212"/>
                  </a:cubicBezTo>
                  <a:lnTo>
                    <a:pt x="42164" y="37201"/>
                  </a:lnTo>
                  <a:lnTo>
                    <a:pt x="38354" y="12864"/>
                  </a:lnTo>
                  <a:cubicBezTo>
                    <a:pt x="42164" y="8692"/>
                    <a:pt x="45974" y="5215"/>
                    <a:pt x="50038" y="3129"/>
                  </a:cubicBezTo>
                  <a:cubicBezTo>
                    <a:pt x="54102" y="1043"/>
                    <a:pt x="58166" y="0"/>
                    <a:pt x="62230" y="0"/>
                  </a:cubicBezTo>
                  <a:lnTo>
                    <a:pt x="62230" y="26075"/>
                  </a:lnTo>
                  <a:lnTo>
                    <a:pt x="62230" y="0"/>
                  </a:lnTo>
                  <a:lnTo>
                    <a:pt x="2700020" y="0"/>
                  </a:lnTo>
                  <a:lnTo>
                    <a:pt x="2700020" y="26075"/>
                  </a:lnTo>
                  <a:lnTo>
                    <a:pt x="2700020" y="0"/>
                  </a:lnTo>
                  <a:cubicBezTo>
                    <a:pt x="2704084" y="0"/>
                    <a:pt x="2708148" y="1043"/>
                    <a:pt x="2712212" y="3129"/>
                  </a:cubicBezTo>
                  <a:lnTo>
                    <a:pt x="2710307" y="28857"/>
                  </a:lnTo>
                  <a:lnTo>
                    <a:pt x="2712212" y="3129"/>
                  </a:lnTo>
                  <a:cubicBezTo>
                    <a:pt x="2716276" y="5215"/>
                    <a:pt x="2720086" y="8692"/>
                    <a:pt x="2723896" y="12864"/>
                  </a:cubicBezTo>
                  <a:cubicBezTo>
                    <a:pt x="2727706" y="17036"/>
                    <a:pt x="2731262" y="22251"/>
                    <a:pt x="2734691" y="28509"/>
                  </a:cubicBezTo>
                  <a:lnTo>
                    <a:pt x="2729357" y="50065"/>
                  </a:lnTo>
                  <a:lnTo>
                    <a:pt x="2734691" y="28509"/>
                  </a:lnTo>
                  <a:cubicBezTo>
                    <a:pt x="2738120" y="34767"/>
                    <a:pt x="2741295" y="41721"/>
                    <a:pt x="2744089" y="49717"/>
                  </a:cubicBezTo>
                  <a:lnTo>
                    <a:pt x="2737358" y="68144"/>
                  </a:lnTo>
                  <a:lnTo>
                    <a:pt x="2744089" y="49717"/>
                  </a:lnTo>
                  <a:cubicBezTo>
                    <a:pt x="2747010" y="57714"/>
                    <a:pt x="2749550" y="66405"/>
                    <a:pt x="2751836" y="75445"/>
                  </a:cubicBezTo>
                  <a:lnTo>
                    <a:pt x="2743962" y="90047"/>
                  </a:lnTo>
                  <a:lnTo>
                    <a:pt x="2751836" y="75445"/>
                  </a:lnTo>
                  <a:cubicBezTo>
                    <a:pt x="2754122" y="84832"/>
                    <a:pt x="2756027" y="94567"/>
                    <a:pt x="2757551" y="104997"/>
                  </a:cubicBezTo>
                  <a:lnTo>
                    <a:pt x="2748788" y="115080"/>
                  </a:lnTo>
                  <a:lnTo>
                    <a:pt x="2757551" y="104997"/>
                  </a:lnTo>
                  <a:cubicBezTo>
                    <a:pt x="2759075" y="115427"/>
                    <a:pt x="2760345" y="125857"/>
                    <a:pt x="2761107" y="136983"/>
                  </a:cubicBezTo>
                  <a:lnTo>
                    <a:pt x="2751709" y="142198"/>
                  </a:lnTo>
                  <a:lnTo>
                    <a:pt x="2761107" y="136983"/>
                  </a:lnTo>
                  <a:cubicBezTo>
                    <a:pt x="2761869" y="148108"/>
                    <a:pt x="2762250" y="158886"/>
                    <a:pt x="2762250" y="170359"/>
                  </a:cubicBezTo>
                  <a:lnTo>
                    <a:pt x="2762250" y="3532350"/>
                  </a:lnTo>
                  <a:cubicBezTo>
                    <a:pt x="2762250" y="3543476"/>
                    <a:pt x="2761869" y="3554601"/>
                    <a:pt x="2761107" y="3565727"/>
                  </a:cubicBezTo>
                  <a:lnTo>
                    <a:pt x="2751709" y="3560511"/>
                  </a:lnTo>
                  <a:lnTo>
                    <a:pt x="2761107" y="3565727"/>
                  </a:lnTo>
                  <a:cubicBezTo>
                    <a:pt x="2760345" y="3576852"/>
                    <a:pt x="2759075" y="3587283"/>
                    <a:pt x="2757551" y="3597713"/>
                  </a:cubicBezTo>
                  <a:lnTo>
                    <a:pt x="2748788" y="3587630"/>
                  </a:lnTo>
                  <a:lnTo>
                    <a:pt x="2757551" y="3597713"/>
                  </a:lnTo>
                  <a:cubicBezTo>
                    <a:pt x="2756027" y="3608143"/>
                    <a:pt x="2754122" y="3617878"/>
                    <a:pt x="2751836" y="3627265"/>
                  </a:cubicBezTo>
                  <a:lnTo>
                    <a:pt x="2743962" y="3612662"/>
                  </a:lnTo>
                  <a:lnTo>
                    <a:pt x="2751836" y="3627265"/>
                  </a:lnTo>
                  <a:cubicBezTo>
                    <a:pt x="2749550" y="3636652"/>
                    <a:pt x="2747010" y="3645344"/>
                    <a:pt x="2744089" y="3652993"/>
                  </a:cubicBezTo>
                  <a:cubicBezTo>
                    <a:pt x="2741168" y="3660989"/>
                    <a:pt x="2737993" y="3667942"/>
                    <a:pt x="2734691" y="3674201"/>
                  </a:cubicBezTo>
                  <a:lnTo>
                    <a:pt x="2729357" y="3652645"/>
                  </a:lnTo>
                  <a:lnTo>
                    <a:pt x="2734691" y="3674201"/>
                  </a:lnTo>
                  <a:cubicBezTo>
                    <a:pt x="2731262" y="3680459"/>
                    <a:pt x="2727706" y="3685673"/>
                    <a:pt x="2723896" y="3689846"/>
                  </a:cubicBezTo>
                  <a:cubicBezTo>
                    <a:pt x="2720086" y="3694018"/>
                    <a:pt x="2716276" y="3697494"/>
                    <a:pt x="2712212" y="3699580"/>
                  </a:cubicBezTo>
                  <a:lnTo>
                    <a:pt x="2710307" y="3673853"/>
                  </a:lnTo>
                  <a:lnTo>
                    <a:pt x="2712212" y="3699580"/>
                  </a:lnTo>
                  <a:cubicBezTo>
                    <a:pt x="2708148" y="3701667"/>
                    <a:pt x="2704211" y="3702710"/>
                    <a:pt x="2700020" y="3702710"/>
                  </a:cubicBezTo>
                  <a:lnTo>
                    <a:pt x="62230" y="3702710"/>
                  </a:lnTo>
                  <a:cubicBezTo>
                    <a:pt x="58166" y="3702710"/>
                    <a:pt x="54102" y="3701667"/>
                    <a:pt x="50038" y="3699580"/>
                  </a:cubicBezTo>
                  <a:cubicBezTo>
                    <a:pt x="45974" y="3697494"/>
                    <a:pt x="42164" y="3694018"/>
                    <a:pt x="38354" y="3689846"/>
                  </a:cubicBezTo>
                  <a:lnTo>
                    <a:pt x="42037" y="3665856"/>
                  </a:lnTo>
                  <a:lnTo>
                    <a:pt x="38354" y="3689846"/>
                  </a:lnTo>
                  <a:cubicBezTo>
                    <a:pt x="34544" y="3685673"/>
                    <a:pt x="30988" y="3680459"/>
                    <a:pt x="27559" y="3674201"/>
                  </a:cubicBezTo>
                  <a:cubicBezTo>
                    <a:pt x="24130" y="3667942"/>
                    <a:pt x="20955" y="3660989"/>
                    <a:pt x="18161" y="3652993"/>
                  </a:cubicBezTo>
                  <a:cubicBezTo>
                    <a:pt x="15240" y="3644996"/>
                    <a:pt x="12700" y="3636304"/>
                    <a:pt x="10414" y="3627265"/>
                  </a:cubicBezTo>
                  <a:lnTo>
                    <a:pt x="18288" y="3612662"/>
                  </a:lnTo>
                  <a:lnTo>
                    <a:pt x="10414" y="3627265"/>
                  </a:lnTo>
                  <a:cubicBezTo>
                    <a:pt x="8128" y="3617878"/>
                    <a:pt x="6223" y="3608143"/>
                    <a:pt x="4699" y="3597713"/>
                  </a:cubicBezTo>
                  <a:cubicBezTo>
                    <a:pt x="3175" y="3587283"/>
                    <a:pt x="1905" y="3576852"/>
                    <a:pt x="1143" y="3565727"/>
                  </a:cubicBezTo>
                  <a:lnTo>
                    <a:pt x="10541" y="3560511"/>
                  </a:lnTo>
                  <a:lnTo>
                    <a:pt x="1143" y="3565727"/>
                  </a:lnTo>
                  <a:cubicBezTo>
                    <a:pt x="381" y="3554601"/>
                    <a:pt x="0" y="3543824"/>
                    <a:pt x="0" y="3532350"/>
                  </a:cubicBezTo>
                  <a:lnTo>
                    <a:pt x="9525" y="3532350"/>
                  </a:lnTo>
                  <a:lnTo>
                    <a:pt x="0" y="3532350"/>
                  </a:lnTo>
                  <a:moveTo>
                    <a:pt x="19050" y="3532350"/>
                  </a:moveTo>
                  <a:cubicBezTo>
                    <a:pt x="19050" y="3539999"/>
                    <a:pt x="19304" y="3547647"/>
                    <a:pt x="19939" y="3555297"/>
                  </a:cubicBezTo>
                  <a:cubicBezTo>
                    <a:pt x="20574" y="3562945"/>
                    <a:pt x="21336" y="3570246"/>
                    <a:pt x="22352" y="3577548"/>
                  </a:cubicBezTo>
                  <a:lnTo>
                    <a:pt x="13589" y="3587630"/>
                  </a:lnTo>
                  <a:lnTo>
                    <a:pt x="22352" y="3577548"/>
                  </a:lnTo>
                  <a:cubicBezTo>
                    <a:pt x="23495" y="3584849"/>
                    <a:pt x="24765" y="3591454"/>
                    <a:pt x="26289" y="3598060"/>
                  </a:cubicBezTo>
                  <a:cubicBezTo>
                    <a:pt x="27813" y="3604666"/>
                    <a:pt x="29591" y="3610577"/>
                    <a:pt x="31623" y="3616139"/>
                  </a:cubicBezTo>
                  <a:lnTo>
                    <a:pt x="24892" y="3634566"/>
                  </a:lnTo>
                  <a:lnTo>
                    <a:pt x="31623" y="3616139"/>
                  </a:lnTo>
                  <a:cubicBezTo>
                    <a:pt x="33655" y="3621702"/>
                    <a:pt x="35814" y="3626569"/>
                    <a:pt x="38227" y="3630742"/>
                  </a:cubicBezTo>
                  <a:lnTo>
                    <a:pt x="32893" y="3652297"/>
                  </a:lnTo>
                  <a:lnTo>
                    <a:pt x="38227" y="3630742"/>
                  </a:lnTo>
                  <a:cubicBezTo>
                    <a:pt x="40640" y="3634913"/>
                    <a:pt x="43053" y="3638738"/>
                    <a:pt x="45720" y="3641519"/>
                  </a:cubicBezTo>
                  <a:cubicBezTo>
                    <a:pt x="48387" y="3644301"/>
                    <a:pt x="51054" y="3646734"/>
                    <a:pt x="53848" y="3648125"/>
                  </a:cubicBezTo>
                  <a:lnTo>
                    <a:pt x="51943" y="3673853"/>
                  </a:lnTo>
                  <a:lnTo>
                    <a:pt x="53848" y="3648125"/>
                  </a:lnTo>
                  <a:cubicBezTo>
                    <a:pt x="56642" y="3649516"/>
                    <a:pt x="59436" y="3650559"/>
                    <a:pt x="62230" y="3650559"/>
                  </a:cubicBezTo>
                  <a:lnTo>
                    <a:pt x="62230" y="3676634"/>
                  </a:lnTo>
                  <a:lnTo>
                    <a:pt x="62230" y="3650559"/>
                  </a:lnTo>
                  <a:lnTo>
                    <a:pt x="2700020" y="3650559"/>
                  </a:lnTo>
                  <a:lnTo>
                    <a:pt x="2700020" y="3676634"/>
                  </a:lnTo>
                  <a:lnTo>
                    <a:pt x="2700020" y="3650559"/>
                  </a:lnTo>
                  <a:cubicBezTo>
                    <a:pt x="2702814" y="3650559"/>
                    <a:pt x="2705608" y="3649864"/>
                    <a:pt x="2708402" y="3648125"/>
                  </a:cubicBezTo>
                  <a:cubicBezTo>
                    <a:pt x="2711196" y="3646734"/>
                    <a:pt x="2713863" y="3644301"/>
                    <a:pt x="2716530" y="3641519"/>
                  </a:cubicBezTo>
                  <a:lnTo>
                    <a:pt x="2720213" y="3665509"/>
                  </a:lnTo>
                  <a:lnTo>
                    <a:pt x="2716530" y="3641519"/>
                  </a:lnTo>
                  <a:cubicBezTo>
                    <a:pt x="2719197" y="3638390"/>
                    <a:pt x="2721610" y="3634914"/>
                    <a:pt x="2724023" y="3630742"/>
                  </a:cubicBezTo>
                  <a:cubicBezTo>
                    <a:pt x="2726436" y="3626569"/>
                    <a:pt x="2728595" y="3621702"/>
                    <a:pt x="2730627" y="3616139"/>
                  </a:cubicBezTo>
                  <a:lnTo>
                    <a:pt x="2737358" y="3634566"/>
                  </a:lnTo>
                  <a:lnTo>
                    <a:pt x="2730500" y="3615792"/>
                  </a:lnTo>
                  <a:cubicBezTo>
                    <a:pt x="2732532" y="3610229"/>
                    <a:pt x="2734310" y="3604318"/>
                    <a:pt x="2735834" y="3597713"/>
                  </a:cubicBezTo>
                  <a:cubicBezTo>
                    <a:pt x="2737358" y="3591107"/>
                    <a:pt x="2738755" y="3584501"/>
                    <a:pt x="2739771" y="3577200"/>
                  </a:cubicBezTo>
                  <a:cubicBezTo>
                    <a:pt x="2740914" y="3569899"/>
                    <a:pt x="2741676" y="3562598"/>
                    <a:pt x="2742184" y="3554949"/>
                  </a:cubicBezTo>
                  <a:cubicBezTo>
                    <a:pt x="2742692" y="3547300"/>
                    <a:pt x="2743073" y="3539651"/>
                    <a:pt x="2743073" y="3532003"/>
                  </a:cubicBezTo>
                  <a:lnTo>
                    <a:pt x="2752598" y="3532003"/>
                  </a:lnTo>
                  <a:lnTo>
                    <a:pt x="2743200" y="3532003"/>
                  </a:lnTo>
                  <a:lnTo>
                    <a:pt x="2743200" y="170359"/>
                  </a:lnTo>
                  <a:lnTo>
                    <a:pt x="2752725" y="170359"/>
                  </a:lnTo>
                  <a:lnTo>
                    <a:pt x="2743200" y="170359"/>
                  </a:lnTo>
                  <a:cubicBezTo>
                    <a:pt x="2743200" y="162711"/>
                    <a:pt x="2742946" y="155062"/>
                    <a:pt x="2742311" y="147413"/>
                  </a:cubicBezTo>
                  <a:cubicBezTo>
                    <a:pt x="2741803" y="139764"/>
                    <a:pt x="2740914" y="132463"/>
                    <a:pt x="2739898" y="125162"/>
                  </a:cubicBezTo>
                  <a:cubicBezTo>
                    <a:pt x="2738755" y="117861"/>
                    <a:pt x="2737485" y="111255"/>
                    <a:pt x="2735961" y="104649"/>
                  </a:cubicBezTo>
                  <a:cubicBezTo>
                    <a:pt x="2734437" y="98044"/>
                    <a:pt x="2732659" y="92133"/>
                    <a:pt x="2730627" y="86570"/>
                  </a:cubicBezTo>
                  <a:cubicBezTo>
                    <a:pt x="2728595" y="81008"/>
                    <a:pt x="2726436" y="76140"/>
                    <a:pt x="2724023" y="71968"/>
                  </a:cubicBezTo>
                  <a:cubicBezTo>
                    <a:pt x="2721610" y="67796"/>
                    <a:pt x="2719197" y="63972"/>
                    <a:pt x="2716530" y="61190"/>
                  </a:cubicBezTo>
                  <a:lnTo>
                    <a:pt x="2720213" y="37201"/>
                  </a:lnTo>
                  <a:lnTo>
                    <a:pt x="2716530" y="61190"/>
                  </a:lnTo>
                  <a:cubicBezTo>
                    <a:pt x="2713863" y="58061"/>
                    <a:pt x="2711196" y="55975"/>
                    <a:pt x="2708402" y="54585"/>
                  </a:cubicBezTo>
                  <a:cubicBezTo>
                    <a:pt x="2705608" y="53194"/>
                    <a:pt x="2702814" y="52151"/>
                    <a:pt x="2700020" y="52151"/>
                  </a:cubicBezTo>
                  <a:lnTo>
                    <a:pt x="62230" y="52151"/>
                  </a:lnTo>
                  <a:cubicBezTo>
                    <a:pt x="59436" y="52151"/>
                    <a:pt x="56642" y="52846"/>
                    <a:pt x="53848" y="54585"/>
                  </a:cubicBezTo>
                  <a:lnTo>
                    <a:pt x="51943" y="28857"/>
                  </a:lnTo>
                  <a:lnTo>
                    <a:pt x="53848" y="54585"/>
                  </a:lnTo>
                  <a:cubicBezTo>
                    <a:pt x="51054" y="55975"/>
                    <a:pt x="48387" y="58409"/>
                    <a:pt x="45720" y="61190"/>
                  </a:cubicBezTo>
                  <a:cubicBezTo>
                    <a:pt x="43053" y="63972"/>
                    <a:pt x="40640" y="67796"/>
                    <a:pt x="38227" y="71968"/>
                  </a:cubicBezTo>
                  <a:cubicBezTo>
                    <a:pt x="35814" y="76140"/>
                    <a:pt x="33655" y="81008"/>
                    <a:pt x="31623" y="86570"/>
                  </a:cubicBezTo>
                  <a:cubicBezTo>
                    <a:pt x="29591" y="92133"/>
                    <a:pt x="27813" y="98044"/>
                    <a:pt x="26289" y="104649"/>
                  </a:cubicBezTo>
                  <a:cubicBezTo>
                    <a:pt x="24765" y="111255"/>
                    <a:pt x="23368" y="117861"/>
                    <a:pt x="22352" y="125162"/>
                  </a:cubicBezTo>
                  <a:cubicBezTo>
                    <a:pt x="21209" y="132463"/>
                    <a:pt x="20447" y="139764"/>
                    <a:pt x="19939" y="147413"/>
                  </a:cubicBezTo>
                  <a:cubicBezTo>
                    <a:pt x="19431" y="155062"/>
                    <a:pt x="19050" y="162711"/>
                    <a:pt x="19050" y="170359"/>
                  </a:cubicBezTo>
                  <a:lnTo>
                    <a:pt x="19050" y="353235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333875" y="419100"/>
            <a:ext cx="6524625" cy="19050"/>
            <a:chOff x="0" y="0"/>
            <a:chExt cx="6524625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24625" cy="19050"/>
            </a:xfrm>
            <a:custGeom>
              <a:avLst/>
              <a:gdLst/>
              <a:ahLst/>
              <a:cxnLst/>
              <a:rect r="r" b="b" t="t" l="l"/>
              <a:pathLst>
                <a:path h="19050" w="652462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6515100" y="0"/>
                  </a:lnTo>
                  <a:cubicBezTo>
                    <a:pt x="6517767" y="0"/>
                    <a:pt x="6519926" y="889"/>
                    <a:pt x="6521831" y="2794"/>
                  </a:cubicBezTo>
                  <a:cubicBezTo>
                    <a:pt x="6523736" y="4699"/>
                    <a:pt x="6524625" y="6858"/>
                    <a:pt x="6524625" y="9525"/>
                  </a:cubicBezTo>
                  <a:cubicBezTo>
                    <a:pt x="6524625" y="12192"/>
                    <a:pt x="6523736" y="14351"/>
                    <a:pt x="6521831" y="16256"/>
                  </a:cubicBezTo>
                  <a:cubicBezTo>
                    <a:pt x="6519926" y="18161"/>
                    <a:pt x="6517767" y="19050"/>
                    <a:pt x="651510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086850" y="2219325"/>
            <a:ext cx="2762250" cy="3702710"/>
            <a:chOff x="0" y="0"/>
            <a:chExt cx="2762250" cy="37027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62250" cy="3702710"/>
            </a:xfrm>
            <a:custGeom>
              <a:avLst/>
              <a:gdLst/>
              <a:ahLst/>
              <a:cxnLst/>
              <a:rect r="r" b="b" t="t" l="l"/>
              <a:pathLst>
                <a:path h="3702710" w="2762250">
                  <a:moveTo>
                    <a:pt x="0" y="3532350"/>
                  </a:moveTo>
                  <a:lnTo>
                    <a:pt x="0" y="170359"/>
                  </a:lnTo>
                  <a:lnTo>
                    <a:pt x="9525" y="170359"/>
                  </a:lnTo>
                  <a:lnTo>
                    <a:pt x="0" y="170359"/>
                  </a:lnTo>
                  <a:cubicBezTo>
                    <a:pt x="0" y="159234"/>
                    <a:pt x="381" y="148108"/>
                    <a:pt x="1143" y="136983"/>
                  </a:cubicBezTo>
                  <a:lnTo>
                    <a:pt x="10541" y="142198"/>
                  </a:lnTo>
                  <a:lnTo>
                    <a:pt x="1143" y="136983"/>
                  </a:lnTo>
                  <a:cubicBezTo>
                    <a:pt x="1905" y="125857"/>
                    <a:pt x="3175" y="115427"/>
                    <a:pt x="4699" y="104997"/>
                  </a:cubicBezTo>
                  <a:cubicBezTo>
                    <a:pt x="6223" y="94567"/>
                    <a:pt x="8128" y="84832"/>
                    <a:pt x="10414" y="75445"/>
                  </a:cubicBezTo>
                  <a:lnTo>
                    <a:pt x="18288" y="90047"/>
                  </a:lnTo>
                  <a:lnTo>
                    <a:pt x="10414" y="75445"/>
                  </a:lnTo>
                  <a:cubicBezTo>
                    <a:pt x="12700" y="66058"/>
                    <a:pt x="15240" y="57366"/>
                    <a:pt x="18161" y="49717"/>
                  </a:cubicBezTo>
                  <a:lnTo>
                    <a:pt x="24892" y="68144"/>
                  </a:lnTo>
                  <a:lnTo>
                    <a:pt x="18161" y="49717"/>
                  </a:lnTo>
                  <a:cubicBezTo>
                    <a:pt x="21082" y="41721"/>
                    <a:pt x="24130" y="34767"/>
                    <a:pt x="27559" y="28509"/>
                  </a:cubicBezTo>
                  <a:lnTo>
                    <a:pt x="32893" y="50065"/>
                  </a:lnTo>
                  <a:lnTo>
                    <a:pt x="27686" y="28857"/>
                  </a:lnTo>
                  <a:cubicBezTo>
                    <a:pt x="31115" y="22599"/>
                    <a:pt x="34671" y="17384"/>
                    <a:pt x="38481" y="13212"/>
                  </a:cubicBezTo>
                  <a:lnTo>
                    <a:pt x="42164" y="37201"/>
                  </a:lnTo>
                  <a:lnTo>
                    <a:pt x="38354" y="12864"/>
                  </a:lnTo>
                  <a:cubicBezTo>
                    <a:pt x="42164" y="8692"/>
                    <a:pt x="45974" y="5215"/>
                    <a:pt x="50038" y="3129"/>
                  </a:cubicBezTo>
                  <a:lnTo>
                    <a:pt x="51943" y="28857"/>
                  </a:lnTo>
                  <a:lnTo>
                    <a:pt x="50038" y="3129"/>
                  </a:lnTo>
                  <a:cubicBezTo>
                    <a:pt x="54102" y="1043"/>
                    <a:pt x="58166" y="0"/>
                    <a:pt x="62230" y="0"/>
                  </a:cubicBezTo>
                  <a:lnTo>
                    <a:pt x="62230" y="26075"/>
                  </a:lnTo>
                  <a:lnTo>
                    <a:pt x="62230" y="0"/>
                  </a:lnTo>
                  <a:lnTo>
                    <a:pt x="2700020" y="0"/>
                  </a:lnTo>
                  <a:lnTo>
                    <a:pt x="2700020" y="26075"/>
                  </a:lnTo>
                  <a:lnTo>
                    <a:pt x="2700020" y="0"/>
                  </a:lnTo>
                  <a:cubicBezTo>
                    <a:pt x="2704084" y="0"/>
                    <a:pt x="2708148" y="1043"/>
                    <a:pt x="2712212" y="3129"/>
                  </a:cubicBezTo>
                  <a:cubicBezTo>
                    <a:pt x="2716276" y="5215"/>
                    <a:pt x="2720086" y="8692"/>
                    <a:pt x="2723896" y="12864"/>
                  </a:cubicBezTo>
                  <a:lnTo>
                    <a:pt x="2720213" y="36853"/>
                  </a:lnTo>
                  <a:lnTo>
                    <a:pt x="2723896" y="12864"/>
                  </a:lnTo>
                  <a:cubicBezTo>
                    <a:pt x="2727706" y="17036"/>
                    <a:pt x="2731262" y="22251"/>
                    <a:pt x="2734691" y="28509"/>
                  </a:cubicBezTo>
                  <a:cubicBezTo>
                    <a:pt x="2738120" y="34767"/>
                    <a:pt x="2741168" y="41721"/>
                    <a:pt x="2744089" y="49717"/>
                  </a:cubicBezTo>
                  <a:lnTo>
                    <a:pt x="2737358" y="68144"/>
                  </a:lnTo>
                  <a:lnTo>
                    <a:pt x="2744089" y="49717"/>
                  </a:lnTo>
                  <a:cubicBezTo>
                    <a:pt x="2747010" y="57714"/>
                    <a:pt x="2749550" y="66405"/>
                    <a:pt x="2751836" y="75445"/>
                  </a:cubicBezTo>
                  <a:lnTo>
                    <a:pt x="2743962" y="90047"/>
                  </a:lnTo>
                  <a:lnTo>
                    <a:pt x="2751836" y="75445"/>
                  </a:lnTo>
                  <a:cubicBezTo>
                    <a:pt x="2754122" y="84832"/>
                    <a:pt x="2756027" y="94567"/>
                    <a:pt x="2757551" y="104997"/>
                  </a:cubicBezTo>
                  <a:lnTo>
                    <a:pt x="2748788" y="115080"/>
                  </a:lnTo>
                  <a:lnTo>
                    <a:pt x="2757551" y="104997"/>
                  </a:lnTo>
                  <a:cubicBezTo>
                    <a:pt x="2759075" y="115427"/>
                    <a:pt x="2760345" y="125857"/>
                    <a:pt x="2761107" y="136983"/>
                  </a:cubicBezTo>
                  <a:lnTo>
                    <a:pt x="2751709" y="142198"/>
                  </a:lnTo>
                  <a:lnTo>
                    <a:pt x="2761107" y="136983"/>
                  </a:lnTo>
                  <a:cubicBezTo>
                    <a:pt x="2761869" y="148108"/>
                    <a:pt x="2762250" y="158886"/>
                    <a:pt x="2762250" y="170359"/>
                  </a:cubicBezTo>
                  <a:lnTo>
                    <a:pt x="2762250" y="3532350"/>
                  </a:lnTo>
                  <a:cubicBezTo>
                    <a:pt x="2762250" y="3543476"/>
                    <a:pt x="2761869" y="3554601"/>
                    <a:pt x="2761107" y="3565727"/>
                  </a:cubicBezTo>
                  <a:lnTo>
                    <a:pt x="2751709" y="3560511"/>
                  </a:lnTo>
                  <a:lnTo>
                    <a:pt x="2761107" y="3565727"/>
                  </a:lnTo>
                  <a:cubicBezTo>
                    <a:pt x="2760345" y="3576852"/>
                    <a:pt x="2759075" y="3587283"/>
                    <a:pt x="2757551" y="3597713"/>
                  </a:cubicBezTo>
                  <a:cubicBezTo>
                    <a:pt x="2756027" y="3608143"/>
                    <a:pt x="2754122" y="3617878"/>
                    <a:pt x="2751836" y="3627265"/>
                  </a:cubicBezTo>
                  <a:lnTo>
                    <a:pt x="2743962" y="3612662"/>
                  </a:lnTo>
                  <a:lnTo>
                    <a:pt x="2751836" y="3627265"/>
                  </a:lnTo>
                  <a:cubicBezTo>
                    <a:pt x="2749550" y="3636652"/>
                    <a:pt x="2747010" y="3645344"/>
                    <a:pt x="2744089" y="3652993"/>
                  </a:cubicBezTo>
                  <a:cubicBezTo>
                    <a:pt x="2741168" y="3660989"/>
                    <a:pt x="2737993" y="3667942"/>
                    <a:pt x="2734691" y="3674201"/>
                  </a:cubicBezTo>
                  <a:cubicBezTo>
                    <a:pt x="2731262" y="3680459"/>
                    <a:pt x="2727706" y="3685673"/>
                    <a:pt x="2723896" y="3689846"/>
                  </a:cubicBezTo>
                  <a:cubicBezTo>
                    <a:pt x="2720086" y="3694018"/>
                    <a:pt x="2716276" y="3697494"/>
                    <a:pt x="2712212" y="3699580"/>
                  </a:cubicBezTo>
                  <a:cubicBezTo>
                    <a:pt x="2708148" y="3701667"/>
                    <a:pt x="2704211" y="3702710"/>
                    <a:pt x="2700020" y="3702710"/>
                  </a:cubicBezTo>
                  <a:lnTo>
                    <a:pt x="62230" y="3702710"/>
                  </a:lnTo>
                  <a:cubicBezTo>
                    <a:pt x="58166" y="3702710"/>
                    <a:pt x="54102" y="3701667"/>
                    <a:pt x="50038" y="3699580"/>
                  </a:cubicBezTo>
                  <a:lnTo>
                    <a:pt x="51943" y="3673853"/>
                  </a:lnTo>
                  <a:lnTo>
                    <a:pt x="50038" y="3699580"/>
                  </a:lnTo>
                  <a:cubicBezTo>
                    <a:pt x="45974" y="3697494"/>
                    <a:pt x="42164" y="3694018"/>
                    <a:pt x="38354" y="3689846"/>
                  </a:cubicBezTo>
                  <a:lnTo>
                    <a:pt x="42037" y="3665856"/>
                  </a:lnTo>
                  <a:lnTo>
                    <a:pt x="38354" y="3689846"/>
                  </a:lnTo>
                  <a:cubicBezTo>
                    <a:pt x="34544" y="3685673"/>
                    <a:pt x="30988" y="3680459"/>
                    <a:pt x="27559" y="3674201"/>
                  </a:cubicBezTo>
                  <a:cubicBezTo>
                    <a:pt x="24130" y="3667942"/>
                    <a:pt x="20955" y="3660989"/>
                    <a:pt x="18161" y="3652993"/>
                  </a:cubicBezTo>
                  <a:lnTo>
                    <a:pt x="24892" y="3634566"/>
                  </a:lnTo>
                  <a:lnTo>
                    <a:pt x="18161" y="3652993"/>
                  </a:lnTo>
                  <a:cubicBezTo>
                    <a:pt x="15240" y="3644996"/>
                    <a:pt x="12700" y="3636304"/>
                    <a:pt x="10414" y="3627265"/>
                  </a:cubicBezTo>
                  <a:lnTo>
                    <a:pt x="18288" y="3612662"/>
                  </a:lnTo>
                  <a:lnTo>
                    <a:pt x="10414" y="3627265"/>
                  </a:lnTo>
                  <a:cubicBezTo>
                    <a:pt x="8128" y="3617878"/>
                    <a:pt x="6223" y="3608143"/>
                    <a:pt x="4699" y="3597713"/>
                  </a:cubicBezTo>
                  <a:cubicBezTo>
                    <a:pt x="3175" y="3587283"/>
                    <a:pt x="1905" y="3576852"/>
                    <a:pt x="1143" y="3565727"/>
                  </a:cubicBezTo>
                  <a:lnTo>
                    <a:pt x="10541" y="3560511"/>
                  </a:lnTo>
                  <a:lnTo>
                    <a:pt x="1143" y="3565727"/>
                  </a:lnTo>
                  <a:cubicBezTo>
                    <a:pt x="381" y="3554601"/>
                    <a:pt x="0" y="3543824"/>
                    <a:pt x="0" y="3532350"/>
                  </a:cubicBezTo>
                  <a:lnTo>
                    <a:pt x="9525" y="3532350"/>
                  </a:lnTo>
                  <a:lnTo>
                    <a:pt x="0" y="3532350"/>
                  </a:lnTo>
                  <a:moveTo>
                    <a:pt x="19050" y="3532350"/>
                  </a:moveTo>
                  <a:cubicBezTo>
                    <a:pt x="19050" y="3539999"/>
                    <a:pt x="19304" y="3547647"/>
                    <a:pt x="19939" y="3555297"/>
                  </a:cubicBezTo>
                  <a:cubicBezTo>
                    <a:pt x="20574" y="3562945"/>
                    <a:pt x="21336" y="3570246"/>
                    <a:pt x="22352" y="3577548"/>
                  </a:cubicBezTo>
                  <a:lnTo>
                    <a:pt x="13589" y="3587630"/>
                  </a:lnTo>
                  <a:lnTo>
                    <a:pt x="22352" y="3577548"/>
                  </a:lnTo>
                  <a:cubicBezTo>
                    <a:pt x="23495" y="3584849"/>
                    <a:pt x="24765" y="3591454"/>
                    <a:pt x="26289" y="3598060"/>
                  </a:cubicBezTo>
                  <a:cubicBezTo>
                    <a:pt x="27813" y="3604666"/>
                    <a:pt x="29591" y="3610577"/>
                    <a:pt x="31623" y="3616139"/>
                  </a:cubicBezTo>
                  <a:cubicBezTo>
                    <a:pt x="33655" y="3621702"/>
                    <a:pt x="35814" y="3626569"/>
                    <a:pt x="38227" y="3630742"/>
                  </a:cubicBezTo>
                  <a:lnTo>
                    <a:pt x="32893" y="3652297"/>
                  </a:lnTo>
                  <a:lnTo>
                    <a:pt x="38227" y="3630742"/>
                  </a:lnTo>
                  <a:cubicBezTo>
                    <a:pt x="40640" y="3634913"/>
                    <a:pt x="43053" y="3638738"/>
                    <a:pt x="45720" y="3641519"/>
                  </a:cubicBezTo>
                  <a:cubicBezTo>
                    <a:pt x="48387" y="3644648"/>
                    <a:pt x="51054" y="3646734"/>
                    <a:pt x="53848" y="3648125"/>
                  </a:cubicBezTo>
                  <a:cubicBezTo>
                    <a:pt x="56642" y="3649516"/>
                    <a:pt x="59436" y="3650559"/>
                    <a:pt x="62230" y="3650559"/>
                  </a:cubicBezTo>
                  <a:lnTo>
                    <a:pt x="62230" y="3676634"/>
                  </a:lnTo>
                  <a:lnTo>
                    <a:pt x="62230" y="3650559"/>
                  </a:lnTo>
                  <a:lnTo>
                    <a:pt x="2700020" y="3650559"/>
                  </a:lnTo>
                  <a:lnTo>
                    <a:pt x="2700020" y="3676634"/>
                  </a:lnTo>
                  <a:lnTo>
                    <a:pt x="2700020" y="3650559"/>
                  </a:lnTo>
                  <a:cubicBezTo>
                    <a:pt x="2702814" y="3650559"/>
                    <a:pt x="2705608" y="3649864"/>
                    <a:pt x="2708402" y="3648125"/>
                  </a:cubicBezTo>
                  <a:lnTo>
                    <a:pt x="2710307" y="3673853"/>
                  </a:lnTo>
                  <a:lnTo>
                    <a:pt x="2708402" y="3648125"/>
                  </a:lnTo>
                  <a:cubicBezTo>
                    <a:pt x="2711196" y="3646734"/>
                    <a:pt x="2713863" y="3644301"/>
                    <a:pt x="2716530" y="3641519"/>
                  </a:cubicBezTo>
                  <a:lnTo>
                    <a:pt x="2720213" y="3665509"/>
                  </a:lnTo>
                  <a:lnTo>
                    <a:pt x="2716530" y="3641519"/>
                  </a:lnTo>
                  <a:cubicBezTo>
                    <a:pt x="2719197" y="3638390"/>
                    <a:pt x="2721610" y="3634914"/>
                    <a:pt x="2724023" y="3630742"/>
                  </a:cubicBezTo>
                  <a:lnTo>
                    <a:pt x="2729357" y="3652297"/>
                  </a:lnTo>
                  <a:lnTo>
                    <a:pt x="2724023" y="3630742"/>
                  </a:lnTo>
                  <a:cubicBezTo>
                    <a:pt x="2726436" y="3626569"/>
                    <a:pt x="2728595" y="3621355"/>
                    <a:pt x="2730627" y="3616139"/>
                  </a:cubicBezTo>
                  <a:lnTo>
                    <a:pt x="2737358" y="3634566"/>
                  </a:lnTo>
                  <a:lnTo>
                    <a:pt x="2730500" y="3615792"/>
                  </a:lnTo>
                  <a:cubicBezTo>
                    <a:pt x="2732532" y="3610229"/>
                    <a:pt x="2734310" y="3604318"/>
                    <a:pt x="2735834" y="3597713"/>
                  </a:cubicBezTo>
                  <a:cubicBezTo>
                    <a:pt x="2737358" y="3591107"/>
                    <a:pt x="2738755" y="3584501"/>
                    <a:pt x="2739771" y="3577200"/>
                  </a:cubicBezTo>
                  <a:lnTo>
                    <a:pt x="2748534" y="3587283"/>
                  </a:lnTo>
                  <a:lnTo>
                    <a:pt x="2739771" y="3577200"/>
                  </a:lnTo>
                  <a:cubicBezTo>
                    <a:pt x="2740914" y="3569899"/>
                    <a:pt x="2741676" y="3562598"/>
                    <a:pt x="2742184" y="3554949"/>
                  </a:cubicBezTo>
                  <a:cubicBezTo>
                    <a:pt x="2742692" y="3547300"/>
                    <a:pt x="2743073" y="3539651"/>
                    <a:pt x="2743073" y="3532003"/>
                  </a:cubicBezTo>
                  <a:lnTo>
                    <a:pt x="2752598" y="3532003"/>
                  </a:lnTo>
                  <a:lnTo>
                    <a:pt x="2743200" y="3532003"/>
                  </a:lnTo>
                  <a:lnTo>
                    <a:pt x="2743200" y="170359"/>
                  </a:lnTo>
                  <a:lnTo>
                    <a:pt x="2752725" y="170359"/>
                  </a:lnTo>
                  <a:lnTo>
                    <a:pt x="2743200" y="170359"/>
                  </a:lnTo>
                  <a:cubicBezTo>
                    <a:pt x="2743200" y="162711"/>
                    <a:pt x="2742946" y="155062"/>
                    <a:pt x="2742311" y="147413"/>
                  </a:cubicBezTo>
                  <a:cubicBezTo>
                    <a:pt x="2741676" y="139764"/>
                    <a:pt x="2740914" y="132463"/>
                    <a:pt x="2739898" y="125162"/>
                  </a:cubicBezTo>
                  <a:cubicBezTo>
                    <a:pt x="2738755" y="117861"/>
                    <a:pt x="2737485" y="111255"/>
                    <a:pt x="2735961" y="104649"/>
                  </a:cubicBezTo>
                  <a:cubicBezTo>
                    <a:pt x="2734437" y="98044"/>
                    <a:pt x="2732659" y="92133"/>
                    <a:pt x="2730627" y="86570"/>
                  </a:cubicBezTo>
                  <a:cubicBezTo>
                    <a:pt x="2728595" y="81008"/>
                    <a:pt x="2726436" y="76140"/>
                    <a:pt x="2724023" y="71968"/>
                  </a:cubicBezTo>
                  <a:lnTo>
                    <a:pt x="2729357" y="50412"/>
                  </a:lnTo>
                  <a:lnTo>
                    <a:pt x="2724023" y="71968"/>
                  </a:lnTo>
                  <a:cubicBezTo>
                    <a:pt x="2721610" y="67796"/>
                    <a:pt x="2719197" y="63972"/>
                    <a:pt x="2716530" y="61190"/>
                  </a:cubicBezTo>
                  <a:cubicBezTo>
                    <a:pt x="2713863" y="58409"/>
                    <a:pt x="2711196" y="55975"/>
                    <a:pt x="2708402" y="54585"/>
                  </a:cubicBezTo>
                  <a:lnTo>
                    <a:pt x="2710307" y="28857"/>
                  </a:lnTo>
                  <a:lnTo>
                    <a:pt x="2708402" y="54585"/>
                  </a:lnTo>
                  <a:cubicBezTo>
                    <a:pt x="2705608" y="53194"/>
                    <a:pt x="2702814" y="52151"/>
                    <a:pt x="2700020" y="52151"/>
                  </a:cubicBezTo>
                  <a:lnTo>
                    <a:pt x="62230" y="52151"/>
                  </a:lnTo>
                  <a:cubicBezTo>
                    <a:pt x="59436" y="52151"/>
                    <a:pt x="56642" y="52846"/>
                    <a:pt x="53848" y="54585"/>
                  </a:cubicBezTo>
                  <a:cubicBezTo>
                    <a:pt x="51054" y="55975"/>
                    <a:pt x="48387" y="58409"/>
                    <a:pt x="45720" y="61190"/>
                  </a:cubicBezTo>
                  <a:cubicBezTo>
                    <a:pt x="43053" y="64319"/>
                    <a:pt x="40640" y="67796"/>
                    <a:pt x="38227" y="71968"/>
                  </a:cubicBezTo>
                  <a:cubicBezTo>
                    <a:pt x="35814" y="76140"/>
                    <a:pt x="33655" y="81008"/>
                    <a:pt x="31750" y="86570"/>
                  </a:cubicBezTo>
                  <a:cubicBezTo>
                    <a:pt x="29718" y="92133"/>
                    <a:pt x="27940" y="98044"/>
                    <a:pt x="26416" y="104649"/>
                  </a:cubicBezTo>
                  <a:cubicBezTo>
                    <a:pt x="24892" y="111255"/>
                    <a:pt x="23495" y="117861"/>
                    <a:pt x="22479" y="125162"/>
                  </a:cubicBezTo>
                  <a:lnTo>
                    <a:pt x="13716" y="115080"/>
                  </a:lnTo>
                  <a:lnTo>
                    <a:pt x="22479" y="125162"/>
                  </a:lnTo>
                  <a:cubicBezTo>
                    <a:pt x="21336" y="132463"/>
                    <a:pt x="20574" y="139764"/>
                    <a:pt x="20066" y="147413"/>
                  </a:cubicBezTo>
                  <a:cubicBezTo>
                    <a:pt x="19558" y="155062"/>
                    <a:pt x="19177" y="162711"/>
                    <a:pt x="19177" y="170359"/>
                  </a:cubicBezTo>
                  <a:lnTo>
                    <a:pt x="19177" y="353235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00834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03/10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900" y="314963"/>
            <a:ext cx="3190942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02 | THE GAP IN EXISTING APPROACHES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42900" y="1080478"/>
            <a:ext cx="11057934" cy="59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2"/>
              </a:lnSpc>
            </a:pPr>
            <a:r>
              <a:rPr lang="en-US" sz="24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Wha</a:t>
            </a:r>
            <a:r>
              <a:rPr lang="en-US" sz="24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t Is Already Being Done?</a:t>
            </a:r>
          </a:p>
          <a:p>
            <a:pPr algn="l">
              <a:lnSpc>
                <a:spcPts val="2110"/>
              </a:lnSpc>
            </a:pPr>
            <a:r>
              <a:rPr lang="en-US" sz="2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Organizations use SBOMs and vulnerability scanners to identify software security risks.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0550" y="2429513"/>
            <a:ext cx="2266950" cy="367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86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Existing Approaches / </a:t>
            </a:r>
            <a:r>
              <a:rPr lang="en-US" sz="1449" spc="86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Solutions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SBOM Generators: Syft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Vulnerability Scanners: Trivy, Grype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Security Databases: OSV, CISA KEV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Dependency Monitoring: Dependabot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505200" y="2429513"/>
            <a:ext cx="2266950" cy="3217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9"/>
              </a:lnSpc>
            </a:pPr>
            <a:r>
              <a:rPr lang="en-US" sz="1449" spc="86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Current Pain Points &amp; Limitations</a:t>
            </a:r>
          </a:p>
          <a:p>
            <a:pPr algn="l">
              <a:lnSpc>
                <a:spcPts val="2029"/>
              </a:lnSpc>
            </a:pP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Incomplete SBOM info</a:t>
            </a: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rmation.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Com</a:t>
            </a: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plex dependency relationships.</a:t>
            </a:r>
          </a:p>
          <a:p>
            <a:pPr algn="l" marL="291463" indent="-145732" lvl="1">
              <a:lnSpc>
                <a:spcPts val="1889"/>
              </a:lnSpc>
              <a:buFont typeface="Arial"/>
              <a:buChar char="•"/>
            </a:pPr>
            <a:r>
              <a:rPr lang="en-US" sz="1349" spc="80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Difficulty prioritizing vulnerabilities.</a:t>
            </a:r>
          </a:p>
          <a:p>
            <a:pPr algn="l">
              <a:lnSpc>
                <a:spcPts val="237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6308889" y="2625411"/>
            <a:ext cx="2590660" cy="216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7"/>
              </a:lnSpc>
            </a:pPr>
            <a:r>
              <a:rPr lang="en-US" sz="1619" spc="97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 Where </a:t>
            </a:r>
            <a:r>
              <a:rPr lang="en-US" sz="1619" spc="97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Do Existing Approaches Fall Short?</a:t>
            </a:r>
          </a:p>
          <a:p>
            <a:pPr algn="l">
              <a:lnSpc>
                <a:spcPts val="2267"/>
              </a:lnSpc>
            </a:pPr>
          </a:p>
          <a:p>
            <a:pPr algn="l">
              <a:lnSpc>
                <a:spcPts val="2065"/>
              </a:lnSpc>
            </a:pPr>
            <a:r>
              <a:rPr lang="en-US" sz="1475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 Security findings often require s</a:t>
            </a:r>
            <a:r>
              <a:rPr lang="en-US" sz="1475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eparate analysis to understand risk and decide what to fix first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20200" y="2625411"/>
            <a:ext cx="2139229" cy="1930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1749" spc="104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 Identified </a:t>
            </a:r>
            <a:r>
              <a:rPr lang="en-US" sz="1749" spc="104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Gap</a:t>
            </a:r>
          </a:p>
          <a:p>
            <a:pPr algn="l">
              <a:lnSpc>
                <a:spcPts val="2449"/>
              </a:lnSpc>
            </a:pPr>
          </a:p>
          <a:p>
            <a:pPr algn="l">
              <a:lnSpc>
                <a:spcPts val="2099"/>
              </a:lnSpc>
            </a:pPr>
            <a:r>
              <a:rPr lang="en-US" sz="14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 A unifi</a:t>
            </a:r>
            <a:r>
              <a:rPr lang="en-US" sz="14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ed solution connecting vulnerability risk, </a:t>
            </a:r>
            <a:r>
              <a:rPr lang="en-US" sz="14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SBOM quality, and remediation priorities.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29025" y="419100"/>
            <a:ext cx="7229475" cy="19050"/>
            <a:chOff x="0" y="0"/>
            <a:chExt cx="7229475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29475" cy="19050"/>
            </a:xfrm>
            <a:custGeom>
              <a:avLst/>
              <a:gdLst/>
              <a:ahLst/>
              <a:cxnLst/>
              <a:rect r="r" b="b" t="t" l="l"/>
              <a:pathLst>
                <a:path h="19050" w="72294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7219950" y="0"/>
                  </a:lnTo>
                  <a:cubicBezTo>
                    <a:pt x="7222617" y="0"/>
                    <a:pt x="7224776" y="889"/>
                    <a:pt x="7226681" y="2794"/>
                  </a:cubicBezTo>
                  <a:cubicBezTo>
                    <a:pt x="7228586" y="4699"/>
                    <a:pt x="7229475" y="6858"/>
                    <a:pt x="7229475" y="9525"/>
                  </a:cubicBezTo>
                  <a:cubicBezTo>
                    <a:pt x="7229475" y="12192"/>
                    <a:pt x="7228586" y="14351"/>
                    <a:pt x="7226681" y="16256"/>
                  </a:cubicBezTo>
                  <a:cubicBezTo>
                    <a:pt x="7224776" y="18161"/>
                    <a:pt x="7222617" y="19050"/>
                    <a:pt x="72199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819555" y="2041522"/>
            <a:ext cx="4686645" cy="4634671"/>
          </a:xfrm>
          <a:custGeom>
            <a:avLst/>
            <a:gdLst/>
            <a:ahLst/>
            <a:cxnLst/>
            <a:rect r="r" b="b" t="t" l="l"/>
            <a:pathLst>
              <a:path h="4634671" w="4686645">
                <a:moveTo>
                  <a:pt x="0" y="0"/>
                </a:moveTo>
                <a:lnTo>
                  <a:pt x="4686645" y="0"/>
                </a:lnTo>
                <a:lnTo>
                  <a:pt x="4686645" y="4634671"/>
                </a:lnTo>
                <a:lnTo>
                  <a:pt x="0" y="4634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8211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2900" y="314963"/>
            <a:ext cx="11727942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03 | OUR SOLUTION04/10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0036" y="1287331"/>
            <a:ext cx="11795369" cy="754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S</a:t>
            </a:r>
            <a:r>
              <a:rPr lang="en-US" sz="1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olution Overview</a:t>
            </a:r>
          </a:p>
          <a:p>
            <a:pPr algn="l">
              <a:lnSpc>
                <a:spcPts val="1979"/>
              </a:lnSpc>
            </a:pPr>
            <a:r>
              <a:rPr lang="en-US" sz="1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A unified SBOM auditing platform that analyzes software components, checks known vulnerabilities, and calculates contextual risk and SBOM trust scores.</a:t>
            </a:r>
          </a:p>
          <a:p>
            <a:pPr algn="l">
              <a:lnSpc>
                <a:spcPts val="98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42900" y="2428593"/>
            <a:ext cx="2846366" cy="193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2"/>
              </a:lnSpc>
            </a:pPr>
            <a:r>
              <a:rPr lang="en-US" b="true" sz="1542">
                <a:solidFill>
                  <a:srgbClr val="C2D3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How It </a:t>
            </a:r>
            <a:r>
              <a:rPr lang="en-US" b="true" sz="1542">
                <a:solidFill>
                  <a:srgbClr val="C2D3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Solves the Problem</a:t>
            </a:r>
          </a:p>
          <a:p>
            <a:pPr algn="l" marL="311351" indent="-155676" lvl="1">
              <a:lnSpc>
                <a:spcPts val="1900"/>
              </a:lnSpc>
              <a:buFont typeface="Arial"/>
              <a:buChar char="•"/>
            </a:pPr>
            <a:r>
              <a:rPr lang="en-US" b="true" sz="1442">
                <a:solidFill>
                  <a:srgbClr val="C2D3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Dete</a:t>
            </a:r>
            <a:r>
              <a:rPr lang="en-US" b="true" sz="1442">
                <a:solidFill>
                  <a:srgbClr val="C2D3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cts known vulnerabilities using security databases.</a:t>
            </a:r>
          </a:p>
          <a:p>
            <a:pPr algn="l" marL="311351" indent="-155676" lvl="1">
              <a:lnSpc>
                <a:spcPts val="1900"/>
              </a:lnSpc>
              <a:buFont typeface="Arial"/>
              <a:buChar char="•"/>
            </a:pPr>
            <a:r>
              <a:rPr lang="en-US" b="true" sz="1442">
                <a:solidFill>
                  <a:srgbClr val="C2D3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Evaluates vulnerability risk using available evidence.</a:t>
            </a:r>
          </a:p>
          <a:p>
            <a:pPr algn="l">
              <a:lnSpc>
                <a:spcPts val="1900"/>
              </a:lnSpc>
            </a:pPr>
          </a:p>
          <a:p>
            <a:pPr algn="l">
              <a:lnSpc>
                <a:spcPts val="19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20036" y="4572856"/>
            <a:ext cx="3208989" cy="2285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3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Input → Processing → Output</a:t>
            </a:r>
          </a:p>
          <a:p>
            <a:pPr algn="l">
              <a:lnSpc>
                <a:spcPts val="1836"/>
              </a:lnSpc>
            </a:pPr>
            <a:r>
              <a:rPr lang="en-US" sz="13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Input: SBOM File (CycloneDX / SPDX)</a:t>
            </a:r>
          </a:p>
          <a:p>
            <a:pPr algn="l">
              <a:lnSpc>
                <a:spcPts val="1836"/>
              </a:lnSpc>
            </a:pPr>
          </a:p>
          <a:p>
            <a:pPr algn="l">
              <a:lnSpc>
                <a:spcPts val="1836"/>
              </a:lnSpc>
            </a:pPr>
            <a:r>
              <a:rPr lang="en-US" sz="13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Processing: Component Analysis → Vulnerability Matching → Risk &amp; Trust Assessment</a:t>
            </a:r>
          </a:p>
          <a:p>
            <a:pPr algn="l">
              <a:lnSpc>
                <a:spcPts val="1836"/>
              </a:lnSpc>
            </a:pPr>
          </a:p>
          <a:p>
            <a:pPr algn="l">
              <a:lnSpc>
                <a:spcPts val="1836"/>
              </a:lnSpc>
            </a:pPr>
            <a:r>
              <a:rPr lang="en-US" sz="1399">
                <a:solidFill>
                  <a:srgbClr val="C2D3FF"/>
                </a:solidFill>
                <a:latin typeface="Inter"/>
                <a:ea typeface="Inter"/>
                <a:cs typeface="Inter"/>
                <a:sym typeface="Inter"/>
              </a:rPr>
              <a:t>Output: Risk Score → SBOM Trust Score → Prioritized Findings</a:t>
            </a:r>
          </a:p>
          <a:p>
            <a:pPr algn="l">
              <a:lnSpc>
                <a:spcPts val="183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92886" y="2263602"/>
            <a:ext cx="1719046" cy="280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olution diagram: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42900" y="804718"/>
            <a:ext cx="2294984" cy="33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Proposed Solution: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900" y="2219325"/>
            <a:ext cx="3629025" cy="4124325"/>
            <a:chOff x="0" y="0"/>
            <a:chExt cx="3629025" cy="4124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29025" cy="4124325"/>
            </a:xfrm>
            <a:custGeom>
              <a:avLst/>
              <a:gdLst/>
              <a:ahLst/>
              <a:cxnLst/>
              <a:rect r="r" b="b" t="t" l="l"/>
              <a:pathLst>
                <a:path h="4124325" w="3629025">
                  <a:moveTo>
                    <a:pt x="0" y="0"/>
                  </a:moveTo>
                  <a:lnTo>
                    <a:pt x="3629025" y="0"/>
                  </a:lnTo>
                  <a:lnTo>
                    <a:pt x="3629025" y="4124325"/>
                  </a:lnTo>
                  <a:lnTo>
                    <a:pt x="0" y="4124325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38725" y="419100"/>
            <a:ext cx="5819775" cy="19050"/>
            <a:chOff x="0" y="0"/>
            <a:chExt cx="5819775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9775" cy="19050"/>
            </a:xfrm>
            <a:custGeom>
              <a:avLst/>
              <a:gdLst/>
              <a:ahLst/>
              <a:cxnLst/>
              <a:rect r="r" b="b" t="t" l="l"/>
              <a:pathLst>
                <a:path h="19050" w="5819775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10250" y="0"/>
                  </a:lnTo>
                  <a:cubicBezTo>
                    <a:pt x="5812917" y="0"/>
                    <a:pt x="5815076" y="889"/>
                    <a:pt x="5816981" y="2794"/>
                  </a:cubicBezTo>
                  <a:cubicBezTo>
                    <a:pt x="5818886" y="4699"/>
                    <a:pt x="5819775" y="6858"/>
                    <a:pt x="5819775" y="9525"/>
                  </a:cubicBezTo>
                  <a:cubicBezTo>
                    <a:pt x="5819775" y="12192"/>
                    <a:pt x="5818886" y="14351"/>
                    <a:pt x="5816981" y="16256"/>
                  </a:cubicBezTo>
                  <a:cubicBezTo>
                    <a:pt x="5815076" y="18161"/>
                    <a:pt x="5812917" y="19050"/>
                    <a:pt x="5810250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213222" y="2155822"/>
            <a:ext cx="7699372" cy="4432297"/>
            <a:chOff x="0" y="0"/>
            <a:chExt cx="7699375" cy="4432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3638550" cy="2390775"/>
            </a:xfrm>
            <a:custGeom>
              <a:avLst/>
              <a:gdLst/>
              <a:ahLst/>
              <a:cxnLst/>
              <a:rect r="r" b="b" t="t" l="l"/>
              <a:pathLst>
                <a:path h="2390775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2390775"/>
                  </a:lnTo>
                  <a:lnTo>
                    <a:pt x="0" y="2390775"/>
                  </a:lnTo>
                  <a:close/>
                </a:path>
              </a:pathLst>
            </a:custGeom>
            <a:solidFill>
              <a:srgbClr val="5A6597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006850" y="63500"/>
              <a:ext cx="3629025" cy="2390775"/>
            </a:xfrm>
            <a:custGeom>
              <a:avLst/>
              <a:gdLst/>
              <a:ahLst/>
              <a:cxnLst/>
              <a:rect r="r" b="b" t="t" l="l"/>
              <a:pathLst>
                <a:path h="2390775" w="3629025">
                  <a:moveTo>
                    <a:pt x="0" y="0"/>
                  </a:moveTo>
                  <a:lnTo>
                    <a:pt x="3629025" y="0"/>
                  </a:lnTo>
                  <a:lnTo>
                    <a:pt x="3629025" y="2390775"/>
                  </a:lnTo>
                  <a:lnTo>
                    <a:pt x="0" y="2390775"/>
                  </a:lnTo>
                  <a:close/>
                </a:path>
              </a:pathLst>
            </a:custGeom>
            <a:solidFill>
              <a:srgbClr val="EFF2FB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778125" y="2578100"/>
              <a:ext cx="4857750" cy="1790700"/>
            </a:xfrm>
            <a:custGeom>
              <a:avLst/>
              <a:gdLst/>
              <a:ahLst/>
              <a:cxnLst/>
              <a:rect r="r" b="b" t="t" l="l"/>
              <a:pathLst>
                <a:path h="1790700" w="4857750">
                  <a:moveTo>
                    <a:pt x="0" y="1728470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cubicBezTo>
                    <a:pt x="6223" y="34544"/>
                    <a:pt x="8128" y="30988"/>
                    <a:pt x="10414" y="27559"/>
                  </a:cubicBez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559" y="10414"/>
                  </a:lnTo>
                  <a:cubicBezTo>
                    <a:pt x="30988" y="8128"/>
                    <a:pt x="34544" y="6223"/>
                    <a:pt x="38354" y="4699"/>
                  </a:cubicBezTo>
                  <a:cubicBezTo>
                    <a:pt x="42164" y="3175"/>
                    <a:pt x="45974" y="1905"/>
                    <a:pt x="50038" y="1143"/>
                  </a:cubicBezTo>
                  <a:lnTo>
                    <a:pt x="51943" y="10541"/>
                  </a:lnTo>
                  <a:lnTo>
                    <a:pt x="50038" y="1143"/>
                  </a:lnTo>
                  <a:cubicBezTo>
                    <a:pt x="54102" y="381"/>
                    <a:pt x="58039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4795520" y="0"/>
                  </a:lnTo>
                  <a:lnTo>
                    <a:pt x="4795520" y="9525"/>
                  </a:lnTo>
                  <a:lnTo>
                    <a:pt x="4795520" y="0"/>
                  </a:lnTo>
                  <a:cubicBezTo>
                    <a:pt x="4799584" y="0"/>
                    <a:pt x="4803648" y="381"/>
                    <a:pt x="4807712" y="1143"/>
                  </a:cubicBezTo>
                  <a:lnTo>
                    <a:pt x="4805807" y="10541"/>
                  </a:lnTo>
                  <a:lnTo>
                    <a:pt x="4807712" y="1143"/>
                  </a:lnTo>
                  <a:cubicBezTo>
                    <a:pt x="4811776" y="1905"/>
                    <a:pt x="4815586" y="3175"/>
                    <a:pt x="4819397" y="4699"/>
                  </a:cubicBezTo>
                  <a:lnTo>
                    <a:pt x="4815713" y="13462"/>
                  </a:lnTo>
                  <a:lnTo>
                    <a:pt x="4819397" y="4699"/>
                  </a:lnTo>
                  <a:cubicBezTo>
                    <a:pt x="4823206" y="6223"/>
                    <a:pt x="4826762" y="8128"/>
                    <a:pt x="4830191" y="10414"/>
                  </a:cubicBezTo>
                  <a:cubicBezTo>
                    <a:pt x="4833620" y="12700"/>
                    <a:pt x="4836668" y="15240"/>
                    <a:pt x="4839589" y="18161"/>
                  </a:cubicBezTo>
                  <a:lnTo>
                    <a:pt x="4832858" y="24892"/>
                  </a:lnTo>
                  <a:lnTo>
                    <a:pt x="4839589" y="18161"/>
                  </a:lnTo>
                  <a:cubicBezTo>
                    <a:pt x="4842510" y="21082"/>
                    <a:pt x="4845050" y="24257"/>
                    <a:pt x="4847336" y="27559"/>
                  </a:cubicBezTo>
                  <a:lnTo>
                    <a:pt x="4839462" y="32893"/>
                  </a:lnTo>
                  <a:lnTo>
                    <a:pt x="4847336" y="27559"/>
                  </a:lnTo>
                  <a:cubicBezTo>
                    <a:pt x="4849622" y="30988"/>
                    <a:pt x="4851527" y="34544"/>
                    <a:pt x="4853051" y="38354"/>
                  </a:cubicBezTo>
                  <a:cubicBezTo>
                    <a:pt x="4854575" y="42164"/>
                    <a:pt x="4855845" y="45974"/>
                    <a:pt x="4856607" y="50038"/>
                  </a:cubicBezTo>
                  <a:lnTo>
                    <a:pt x="4847209" y="51943"/>
                  </a:lnTo>
                  <a:lnTo>
                    <a:pt x="4856607" y="50038"/>
                  </a:lnTo>
                  <a:cubicBezTo>
                    <a:pt x="4857369" y="54102"/>
                    <a:pt x="4857750" y="58039"/>
                    <a:pt x="4857750" y="62230"/>
                  </a:cubicBezTo>
                  <a:lnTo>
                    <a:pt x="4857750" y="1728470"/>
                  </a:lnTo>
                  <a:cubicBezTo>
                    <a:pt x="4857750" y="1732534"/>
                    <a:pt x="4857369" y="1736598"/>
                    <a:pt x="4856607" y="1740662"/>
                  </a:cubicBezTo>
                  <a:lnTo>
                    <a:pt x="4847209" y="1738757"/>
                  </a:lnTo>
                  <a:lnTo>
                    <a:pt x="4856607" y="1740662"/>
                  </a:lnTo>
                  <a:cubicBezTo>
                    <a:pt x="4855845" y="1744726"/>
                    <a:pt x="4854575" y="1748536"/>
                    <a:pt x="4853051" y="1752346"/>
                  </a:cubicBezTo>
                  <a:lnTo>
                    <a:pt x="4844288" y="1748663"/>
                  </a:lnTo>
                  <a:lnTo>
                    <a:pt x="4853051" y="1752346"/>
                  </a:lnTo>
                  <a:cubicBezTo>
                    <a:pt x="4851527" y="1756156"/>
                    <a:pt x="4849622" y="1759712"/>
                    <a:pt x="4847336" y="1763141"/>
                  </a:cubicBezTo>
                  <a:lnTo>
                    <a:pt x="4839462" y="1757807"/>
                  </a:lnTo>
                  <a:lnTo>
                    <a:pt x="4847336" y="1763141"/>
                  </a:lnTo>
                  <a:cubicBezTo>
                    <a:pt x="4845050" y="1766570"/>
                    <a:pt x="4842510" y="1769745"/>
                    <a:pt x="4839589" y="1772539"/>
                  </a:cubicBezTo>
                  <a:cubicBezTo>
                    <a:pt x="4836668" y="1775460"/>
                    <a:pt x="4833493" y="1778000"/>
                    <a:pt x="4830191" y="1780286"/>
                  </a:cubicBezTo>
                  <a:cubicBezTo>
                    <a:pt x="4826762" y="1782572"/>
                    <a:pt x="4823206" y="1784477"/>
                    <a:pt x="4819397" y="1786001"/>
                  </a:cubicBezTo>
                  <a:lnTo>
                    <a:pt x="4815713" y="1777238"/>
                  </a:lnTo>
                  <a:lnTo>
                    <a:pt x="4819397" y="1786001"/>
                  </a:lnTo>
                  <a:cubicBezTo>
                    <a:pt x="4815586" y="1787525"/>
                    <a:pt x="4811776" y="1788795"/>
                    <a:pt x="4807712" y="1789557"/>
                  </a:cubicBezTo>
                  <a:lnTo>
                    <a:pt x="4805807" y="1780159"/>
                  </a:lnTo>
                  <a:lnTo>
                    <a:pt x="4807712" y="1789557"/>
                  </a:lnTo>
                  <a:cubicBezTo>
                    <a:pt x="4803648" y="1790319"/>
                    <a:pt x="4799711" y="1790700"/>
                    <a:pt x="4795520" y="1790700"/>
                  </a:cubicBezTo>
                  <a:lnTo>
                    <a:pt x="4795520" y="1781175"/>
                  </a:lnTo>
                  <a:lnTo>
                    <a:pt x="4795520" y="1790700"/>
                  </a:lnTo>
                  <a:lnTo>
                    <a:pt x="62230" y="1790700"/>
                  </a:lnTo>
                  <a:lnTo>
                    <a:pt x="62230" y="1781175"/>
                  </a:lnTo>
                  <a:lnTo>
                    <a:pt x="62230" y="1790700"/>
                  </a:lnTo>
                  <a:cubicBezTo>
                    <a:pt x="58166" y="1790700"/>
                    <a:pt x="54102" y="1790319"/>
                    <a:pt x="50038" y="1789557"/>
                  </a:cubicBezTo>
                  <a:lnTo>
                    <a:pt x="51943" y="1780159"/>
                  </a:lnTo>
                  <a:lnTo>
                    <a:pt x="50038" y="1789557"/>
                  </a:lnTo>
                  <a:cubicBezTo>
                    <a:pt x="45974" y="1788795"/>
                    <a:pt x="42164" y="1787525"/>
                    <a:pt x="38354" y="1786001"/>
                  </a:cubicBezTo>
                  <a:lnTo>
                    <a:pt x="42037" y="1777238"/>
                  </a:lnTo>
                  <a:lnTo>
                    <a:pt x="38354" y="1786001"/>
                  </a:lnTo>
                  <a:cubicBezTo>
                    <a:pt x="34544" y="1784477"/>
                    <a:pt x="30988" y="1782572"/>
                    <a:pt x="27559" y="1780286"/>
                  </a:cubicBezTo>
                  <a:lnTo>
                    <a:pt x="32893" y="1772412"/>
                  </a:lnTo>
                  <a:lnTo>
                    <a:pt x="27559" y="1780286"/>
                  </a:lnTo>
                  <a:cubicBezTo>
                    <a:pt x="24130" y="1778000"/>
                    <a:pt x="20955" y="1775460"/>
                    <a:pt x="18161" y="1772539"/>
                  </a:cubicBezTo>
                  <a:cubicBezTo>
                    <a:pt x="15240" y="1769618"/>
                    <a:pt x="12700" y="1766443"/>
                    <a:pt x="10414" y="1763141"/>
                  </a:cubicBezTo>
                  <a:cubicBezTo>
                    <a:pt x="8128" y="1759712"/>
                    <a:pt x="6223" y="1756156"/>
                    <a:pt x="4699" y="1752346"/>
                  </a:cubicBezTo>
                  <a:lnTo>
                    <a:pt x="13462" y="1748663"/>
                  </a:lnTo>
                  <a:lnTo>
                    <a:pt x="4699" y="1752346"/>
                  </a:lnTo>
                  <a:cubicBezTo>
                    <a:pt x="3175" y="1748536"/>
                    <a:pt x="1905" y="1744726"/>
                    <a:pt x="1143" y="1740662"/>
                  </a:cubicBezTo>
                  <a:lnTo>
                    <a:pt x="10541" y="1738757"/>
                  </a:lnTo>
                  <a:lnTo>
                    <a:pt x="1143" y="1740662"/>
                  </a:lnTo>
                  <a:cubicBezTo>
                    <a:pt x="381" y="1736598"/>
                    <a:pt x="0" y="1732661"/>
                    <a:pt x="0" y="1728470"/>
                  </a:cubicBezTo>
                  <a:lnTo>
                    <a:pt x="9525" y="1728470"/>
                  </a:lnTo>
                  <a:lnTo>
                    <a:pt x="0" y="1728470"/>
                  </a:lnTo>
                  <a:moveTo>
                    <a:pt x="19050" y="1728470"/>
                  </a:moveTo>
                  <a:cubicBezTo>
                    <a:pt x="19050" y="1731264"/>
                    <a:pt x="19304" y="1734058"/>
                    <a:pt x="19939" y="1736852"/>
                  </a:cubicBezTo>
                  <a:cubicBezTo>
                    <a:pt x="20447" y="1739646"/>
                    <a:pt x="21336" y="1742313"/>
                    <a:pt x="22352" y="1744980"/>
                  </a:cubicBezTo>
                  <a:cubicBezTo>
                    <a:pt x="23368" y="1747647"/>
                    <a:pt x="24765" y="1750060"/>
                    <a:pt x="26289" y="1752473"/>
                  </a:cubicBezTo>
                  <a:lnTo>
                    <a:pt x="18415" y="1757807"/>
                  </a:lnTo>
                  <a:lnTo>
                    <a:pt x="26289" y="1752473"/>
                  </a:lnTo>
                  <a:cubicBezTo>
                    <a:pt x="27813" y="1754886"/>
                    <a:pt x="29718" y="1757045"/>
                    <a:pt x="31623" y="1759077"/>
                  </a:cubicBezTo>
                  <a:lnTo>
                    <a:pt x="24892" y="1765808"/>
                  </a:lnTo>
                  <a:lnTo>
                    <a:pt x="31623" y="1759077"/>
                  </a:lnTo>
                  <a:cubicBezTo>
                    <a:pt x="33655" y="1761109"/>
                    <a:pt x="35814" y="1762887"/>
                    <a:pt x="38227" y="1764411"/>
                  </a:cubicBezTo>
                  <a:cubicBezTo>
                    <a:pt x="40640" y="1765935"/>
                    <a:pt x="43053" y="1767332"/>
                    <a:pt x="45720" y="1768348"/>
                  </a:cubicBezTo>
                  <a:cubicBezTo>
                    <a:pt x="48387" y="1769491"/>
                    <a:pt x="51054" y="1770253"/>
                    <a:pt x="53848" y="1770761"/>
                  </a:cubicBezTo>
                  <a:cubicBezTo>
                    <a:pt x="56642" y="1771269"/>
                    <a:pt x="59436" y="1771650"/>
                    <a:pt x="62230" y="1771650"/>
                  </a:cubicBezTo>
                  <a:lnTo>
                    <a:pt x="4795520" y="1771650"/>
                  </a:lnTo>
                  <a:cubicBezTo>
                    <a:pt x="4798314" y="1771650"/>
                    <a:pt x="4801108" y="1771396"/>
                    <a:pt x="4803902" y="1770761"/>
                  </a:cubicBezTo>
                  <a:cubicBezTo>
                    <a:pt x="4806696" y="1770253"/>
                    <a:pt x="4809363" y="1769364"/>
                    <a:pt x="4812030" y="1768348"/>
                  </a:cubicBezTo>
                  <a:lnTo>
                    <a:pt x="4808855" y="1769618"/>
                  </a:lnTo>
                  <a:lnTo>
                    <a:pt x="4812030" y="1768348"/>
                  </a:lnTo>
                  <a:cubicBezTo>
                    <a:pt x="4814697" y="1767205"/>
                    <a:pt x="4817110" y="1765935"/>
                    <a:pt x="4819523" y="1764411"/>
                  </a:cubicBezTo>
                  <a:lnTo>
                    <a:pt x="4824857" y="1772285"/>
                  </a:lnTo>
                  <a:lnTo>
                    <a:pt x="4819523" y="1764411"/>
                  </a:lnTo>
                  <a:cubicBezTo>
                    <a:pt x="4821936" y="1762887"/>
                    <a:pt x="4824095" y="1760982"/>
                    <a:pt x="4826127" y="1759077"/>
                  </a:cubicBezTo>
                  <a:lnTo>
                    <a:pt x="4832858" y="1765808"/>
                  </a:lnTo>
                  <a:lnTo>
                    <a:pt x="4826127" y="1759077"/>
                  </a:lnTo>
                  <a:cubicBezTo>
                    <a:pt x="4828159" y="1757045"/>
                    <a:pt x="4829937" y="1754886"/>
                    <a:pt x="4831461" y="1752473"/>
                  </a:cubicBezTo>
                  <a:cubicBezTo>
                    <a:pt x="4832985" y="1750060"/>
                    <a:pt x="4834382" y="1747647"/>
                    <a:pt x="4835398" y="1744980"/>
                  </a:cubicBezTo>
                  <a:cubicBezTo>
                    <a:pt x="4836541" y="1742313"/>
                    <a:pt x="4837303" y="1739646"/>
                    <a:pt x="4837811" y="1736852"/>
                  </a:cubicBezTo>
                  <a:cubicBezTo>
                    <a:pt x="4838319" y="1734058"/>
                    <a:pt x="4838700" y="1731264"/>
                    <a:pt x="4838700" y="1728470"/>
                  </a:cubicBezTo>
                  <a:lnTo>
                    <a:pt x="4848225" y="1728470"/>
                  </a:lnTo>
                  <a:lnTo>
                    <a:pt x="4838700" y="1728470"/>
                  </a:lnTo>
                  <a:lnTo>
                    <a:pt x="4838700" y="62230"/>
                  </a:lnTo>
                  <a:lnTo>
                    <a:pt x="4848225" y="62230"/>
                  </a:lnTo>
                  <a:lnTo>
                    <a:pt x="4838700" y="62230"/>
                  </a:lnTo>
                  <a:cubicBezTo>
                    <a:pt x="4838700" y="59436"/>
                    <a:pt x="4838446" y="56642"/>
                    <a:pt x="4837811" y="53848"/>
                  </a:cubicBezTo>
                  <a:cubicBezTo>
                    <a:pt x="4837303" y="51054"/>
                    <a:pt x="4836414" y="48387"/>
                    <a:pt x="4835398" y="45720"/>
                  </a:cubicBezTo>
                  <a:lnTo>
                    <a:pt x="4844161" y="42037"/>
                  </a:lnTo>
                  <a:lnTo>
                    <a:pt x="4835398" y="45720"/>
                  </a:lnTo>
                  <a:cubicBezTo>
                    <a:pt x="4834255" y="43053"/>
                    <a:pt x="4832985" y="40640"/>
                    <a:pt x="4831461" y="38227"/>
                  </a:cubicBezTo>
                  <a:cubicBezTo>
                    <a:pt x="4829937" y="35814"/>
                    <a:pt x="4828159" y="33655"/>
                    <a:pt x="4826127" y="31623"/>
                  </a:cubicBezTo>
                  <a:cubicBezTo>
                    <a:pt x="4824095" y="29591"/>
                    <a:pt x="4821936" y="27813"/>
                    <a:pt x="4819523" y="26289"/>
                  </a:cubicBezTo>
                  <a:lnTo>
                    <a:pt x="4824857" y="18415"/>
                  </a:lnTo>
                  <a:lnTo>
                    <a:pt x="4819523" y="26289"/>
                  </a:lnTo>
                  <a:cubicBezTo>
                    <a:pt x="4817110" y="24765"/>
                    <a:pt x="4814697" y="23368"/>
                    <a:pt x="4812030" y="22352"/>
                  </a:cubicBezTo>
                  <a:cubicBezTo>
                    <a:pt x="4809363" y="21336"/>
                    <a:pt x="4806696" y="20447"/>
                    <a:pt x="4803902" y="19939"/>
                  </a:cubicBezTo>
                  <a:cubicBezTo>
                    <a:pt x="4801108" y="19431"/>
                    <a:pt x="4798314" y="19050"/>
                    <a:pt x="4795520" y="19050"/>
                  </a:cubicBezTo>
                  <a:lnTo>
                    <a:pt x="62230" y="19050"/>
                  </a:lnTo>
                  <a:cubicBezTo>
                    <a:pt x="59436" y="19050"/>
                    <a:pt x="56642" y="19304"/>
                    <a:pt x="53848" y="19939"/>
                  </a:cubicBezTo>
                  <a:cubicBezTo>
                    <a:pt x="51054" y="20447"/>
                    <a:pt x="48387" y="21336"/>
                    <a:pt x="45720" y="22352"/>
                  </a:cubicBezTo>
                  <a:lnTo>
                    <a:pt x="42037" y="13589"/>
                  </a:lnTo>
                  <a:lnTo>
                    <a:pt x="45720" y="22352"/>
                  </a:ln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3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lnTo>
                    <a:pt x="18415" y="32893"/>
                  </a:lnTo>
                  <a:lnTo>
                    <a:pt x="26289" y="38227"/>
                  </a:lnTo>
                  <a:cubicBezTo>
                    <a:pt x="24765" y="40640"/>
                    <a:pt x="23368" y="43053"/>
                    <a:pt x="22352" y="45720"/>
                  </a:cubicBezTo>
                  <a:lnTo>
                    <a:pt x="13589" y="42037"/>
                  </a:lnTo>
                  <a:lnTo>
                    <a:pt x="22352" y="45720"/>
                  </a:lnTo>
                  <a:cubicBezTo>
                    <a:pt x="21209" y="48387"/>
                    <a:pt x="20447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172847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2900" y="314963"/>
            <a:ext cx="3282344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04 | WHAT MAKES OUR APPROACH USEFUL?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00977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05/10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2900" y="710936"/>
            <a:ext cx="11518630" cy="39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8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Innovation &amp; Unique Value Proposition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900" y="2419988"/>
            <a:ext cx="3174997" cy="408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507"/>
              </a:lnSpc>
            </a:pPr>
            <a:r>
              <a:rPr lang="en-US" sz="1949" spc="11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What Is Genuinely New or Improved?</a:t>
            </a:r>
          </a:p>
          <a:p>
            <a:pPr algn="just">
              <a:lnSpc>
                <a:spcPts val="2507"/>
              </a:lnSpc>
            </a:pPr>
          </a:p>
          <a:p>
            <a:pPr algn="just" marL="377821" indent="-188911" lvl="1">
              <a:lnSpc>
                <a:spcPts val="2250"/>
              </a:lnSpc>
              <a:buFont typeface="Arial"/>
              <a:buChar char="•"/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Combines vulnerability risk scoring with SBOM quality assessment.</a:t>
            </a:r>
          </a:p>
          <a:p>
            <a:pPr algn="just" marL="377821" indent="-188911" lvl="1">
              <a:lnSpc>
                <a:spcPts val="2250"/>
              </a:lnSpc>
              <a:buFont typeface="Arial"/>
              <a:buChar char="•"/>
            </a:pPr>
            <a:r>
              <a:rPr lang="en-US" sz="1749" spc="104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Considers multiple security signals for contextual risk analysis.</a:t>
            </a:r>
          </a:p>
          <a:p>
            <a:pPr algn="just">
              <a:lnSpc>
                <a:spcPts val="2250"/>
              </a:lnSpc>
            </a:pPr>
          </a:p>
          <a:p>
            <a:pPr algn="just">
              <a:lnSpc>
                <a:spcPts val="225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46133" y="2405130"/>
            <a:ext cx="3299734" cy="207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1605" spc="96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What Makes It Different?</a:t>
            </a:r>
          </a:p>
          <a:p>
            <a:pPr algn="l" marL="324995" indent="-162497" lvl="1">
              <a:lnSpc>
                <a:spcPts val="1482"/>
              </a:lnSpc>
              <a:buFont typeface="Arial"/>
              <a:buChar char="•"/>
            </a:pPr>
            <a:r>
              <a:rPr lang="en-US" sz="1505" spc="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Unifies v</a:t>
            </a:r>
            <a:r>
              <a:rPr lang="en-US" sz="1505" spc="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ulnerability findings and SBOM trust insights.</a:t>
            </a:r>
          </a:p>
          <a:p>
            <a:pPr algn="l" marL="324995" indent="-162497" lvl="1">
              <a:lnSpc>
                <a:spcPts val="1482"/>
              </a:lnSpc>
              <a:buFont typeface="Arial"/>
              <a:buChar char="•"/>
            </a:pPr>
            <a:r>
              <a:rPr lang="en-US" sz="1505" spc="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Considers dependency context and exploit intelligence.</a:t>
            </a:r>
          </a:p>
          <a:p>
            <a:pPr algn="l" marL="324995" indent="-162497" lvl="1">
              <a:lnSpc>
                <a:spcPts val="1482"/>
              </a:lnSpc>
              <a:buFont typeface="Arial"/>
              <a:buChar char="•"/>
            </a:pPr>
            <a:r>
              <a:rPr lang="en-US" sz="1505" spc="90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Provides prioritized, evidence-based findings.</a:t>
            </a:r>
          </a:p>
          <a:p>
            <a:pPr algn="l">
              <a:lnSpc>
                <a:spcPts val="184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5814070" y="3671935"/>
            <a:ext cx="50987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45398" y="2477138"/>
            <a:ext cx="3060802" cy="227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949" spc="116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Unique</a:t>
            </a:r>
            <a:r>
              <a:rPr lang="en-US" sz="1949" spc="116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 </a:t>
            </a:r>
            <a:r>
              <a:rPr lang="en-US" sz="1949" spc="116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Value Proposition (</a:t>
            </a:r>
            <a:r>
              <a:rPr lang="en-US" sz="1949" spc="116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USP):</a:t>
            </a:r>
          </a:p>
          <a:p>
            <a:pPr algn="l">
              <a:lnSpc>
                <a:spcPts val="1663"/>
              </a:lnSpc>
            </a:pPr>
            <a:r>
              <a:rPr lang="en-US" sz="1649" spc="98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One platf</a:t>
            </a:r>
            <a:r>
              <a:rPr lang="en-US" sz="1649" spc="98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orm to assess vulnerability risk, evaluate SBOM quality, and prioritize remediation.</a:t>
            </a:r>
          </a:p>
          <a:p>
            <a:pPr algn="l">
              <a:lnSpc>
                <a:spcPts val="382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649044" y="3262360"/>
            <a:ext cx="50987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42724" y="4907842"/>
            <a:ext cx="4382681" cy="1887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Why Should Users Choose This Solution?</a:t>
            </a:r>
          </a:p>
          <a:p>
            <a:pPr algn="l" marL="388513" indent="-194257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Clearer Risks: Understand vulnerability priorities.</a:t>
            </a:r>
          </a:p>
          <a:p>
            <a:pPr algn="l" marL="388513" indent="-194257" lvl="1">
              <a:lnSpc>
                <a:spcPts val="2519"/>
              </a:lnSpc>
              <a:buFont typeface="Arial"/>
              <a:buChar char="•"/>
            </a:pPr>
            <a:r>
              <a:rPr lang="en-US" sz="1799">
                <a:solidFill>
                  <a:srgbClr val="EBECE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Better Visibility: Identify SBOM quality gaps.</a:t>
            </a:r>
          </a:p>
          <a:p>
            <a:pPr algn="l">
              <a:lnSpc>
                <a:spcPts val="251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900" y="2286000"/>
            <a:ext cx="2800350" cy="19050"/>
            <a:chOff x="0" y="0"/>
            <a:chExt cx="280035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00350" cy="19050"/>
            </a:xfrm>
            <a:custGeom>
              <a:avLst/>
              <a:gdLst/>
              <a:ahLst/>
              <a:cxnLst/>
              <a:rect r="r" b="b" t="t" l="l"/>
              <a:pathLst>
                <a:path h="190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2900" y="3619500"/>
            <a:ext cx="2800350" cy="19050"/>
            <a:chOff x="0" y="0"/>
            <a:chExt cx="280035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0350" cy="19050"/>
            </a:xfrm>
            <a:custGeom>
              <a:avLst/>
              <a:gdLst/>
              <a:ahLst/>
              <a:cxnLst/>
              <a:rect r="r" b="b" t="t" l="l"/>
              <a:pathLst>
                <a:path h="190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295650" y="2286000"/>
            <a:ext cx="2724150" cy="19050"/>
            <a:chOff x="0" y="0"/>
            <a:chExt cx="272415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24150" cy="19050"/>
            </a:xfrm>
            <a:custGeom>
              <a:avLst/>
              <a:gdLst/>
              <a:ahLst/>
              <a:cxnLst/>
              <a:rect r="r" b="b" t="t" l="l"/>
              <a:pathLst>
                <a:path h="1905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295650" y="3619500"/>
            <a:ext cx="2724150" cy="19050"/>
            <a:chOff x="0" y="0"/>
            <a:chExt cx="2724150" cy="19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24150" cy="19050"/>
            </a:xfrm>
            <a:custGeom>
              <a:avLst/>
              <a:gdLst/>
              <a:ahLst/>
              <a:cxnLst/>
              <a:rect r="r" b="b" t="t" l="l"/>
              <a:pathLst>
                <a:path h="1905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2200" y="2286000"/>
            <a:ext cx="2724150" cy="19050"/>
            <a:chOff x="0" y="0"/>
            <a:chExt cx="272415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24150" cy="19050"/>
            </a:xfrm>
            <a:custGeom>
              <a:avLst/>
              <a:gdLst/>
              <a:ahLst/>
              <a:cxnLst/>
              <a:rect r="r" b="b" t="t" l="l"/>
              <a:pathLst>
                <a:path h="1905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2200" y="3619500"/>
            <a:ext cx="2724150" cy="19050"/>
            <a:chOff x="0" y="0"/>
            <a:chExt cx="272415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24150" cy="19050"/>
            </a:xfrm>
            <a:custGeom>
              <a:avLst/>
              <a:gdLst/>
              <a:ahLst/>
              <a:cxnLst/>
              <a:rect r="r" b="b" t="t" l="l"/>
              <a:pathLst>
                <a:path h="19050" w="2724150">
                  <a:moveTo>
                    <a:pt x="0" y="0"/>
                  </a:moveTo>
                  <a:lnTo>
                    <a:pt x="2724150" y="0"/>
                  </a:lnTo>
                  <a:lnTo>
                    <a:pt x="27241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2900" y="4552407"/>
            <a:ext cx="11506200" cy="1591218"/>
            <a:chOff x="0" y="0"/>
            <a:chExt cx="11506200" cy="15912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06200" cy="1591218"/>
            </a:xfrm>
            <a:custGeom>
              <a:avLst/>
              <a:gdLst/>
              <a:ahLst/>
              <a:cxnLst/>
              <a:rect r="r" b="b" t="t" l="l"/>
              <a:pathLst>
                <a:path h="1591218" w="11506200">
                  <a:moveTo>
                    <a:pt x="0" y="0"/>
                  </a:moveTo>
                  <a:lnTo>
                    <a:pt x="11506200" y="0"/>
                  </a:lnTo>
                  <a:lnTo>
                    <a:pt x="11506200" y="1591218"/>
                  </a:lnTo>
                  <a:lnTo>
                    <a:pt x="0" y="1591218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686300" y="419100"/>
            <a:ext cx="6172200" cy="19050"/>
            <a:chOff x="0" y="0"/>
            <a:chExt cx="6172200" cy="190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72200" cy="19050"/>
            </a:xfrm>
            <a:custGeom>
              <a:avLst/>
              <a:gdLst/>
              <a:ahLst/>
              <a:cxnLst/>
              <a:rect r="r" b="b" t="t" l="l"/>
              <a:pathLst>
                <a:path h="19050" w="61722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6162675" y="0"/>
                  </a:lnTo>
                  <a:cubicBezTo>
                    <a:pt x="6165342" y="0"/>
                    <a:pt x="6167501" y="889"/>
                    <a:pt x="6169406" y="2794"/>
                  </a:cubicBezTo>
                  <a:cubicBezTo>
                    <a:pt x="6171311" y="4699"/>
                    <a:pt x="6172200" y="6858"/>
                    <a:pt x="6172200" y="9525"/>
                  </a:cubicBezTo>
                  <a:cubicBezTo>
                    <a:pt x="6172200" y="12192"/>
                    <a:pt x="6171311" y="14351"/>
                    <a:pt x="6169406" y="16256"/>
                  </a:cubicBezTo>
                  <a:cubicBezTo>
                    <a:pt x="6167501" y="18161"/>
                    <a:pt x="6165342" y="19050"/>
                    <a:pt x="61626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048750" y="2286000"/>
            <a:ext cx="2800350" cy="19050"/>
            <a:chOff x="0" y="0"/>
            <a:chExt cx="2800350" cy="190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00350" cy="19050"/>
            </a:xfrm>
            <a:custGeom>
              <a:avLst/>
              <a:gdLst/>
              <a:ahLst/>
              <a:cxnLst/>
              <a:rect r="r" b="b" t="t" l="l"/>
              <a:pathLst>
                <a:path h="190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048750" y="3619500"/>
            <a:ext cx="2800350" cy="19050"/>
            <a:chOff x="0" y="0"/>
            <a:chExt cx="2800350" cy="19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00350" cy="19050"/>
            </a:xfrm>
            <a:custGeom>
              <a:avLst/>
              <a:gdLst/>
              <a:ahLst/>
              <a:cxnLst/>
              <a:rect r="r" b="b" t="t" l="l"/>
              <a:pathLst>
                <a:path h="190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C2D3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45475" y="4822234"/>
            <a:ext cx="11179788" cy="79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1127" spc="67">
                <a:solidFill>
                  <a:srgbClr val="FFFFFF"/>
                </a:solidFill>
                <a:latin typeface="Space Mono"/>
                <a:ea typeface="Space Mono"/>
                <a:cs typeface="Space Mono"/>
                <a:sym typeface="Space Mono"/>
              </a:rPr>
              <a:t>DECISION POINTS</a:t>
            </a:r>
          </a:p>
          <a:p>
            <a:pPr algn="l">
              <a:lnSpc>
                <a:spcPts val="1932"/>
              </a:lnSpc>
            </a:pPr>
            <a:r>
              <a:rPr lang="en-US" sz="15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Invalid SBOM → clear error · unavailable intelligence → unknown/unavailable · missing relationships → lower confidence · unavailable fix → no invented version · no active scan → empty state.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00834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06/10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1981" y="314963"/>
            <a:ext cx="10536460" cy="1038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4"/>
              </a:lnSpc>
            </a:pPr>
            <a:r>
              <a:rPr lang="en-US" sz="2249" spc="134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How the Solution Works</a:t>
            </a:r>
          </a:p>
          <a:p>
            <a:pPr algn="l">
              <a:lnSpc>
                <a:spcPts val="1378"/>
              </a:lnSpc>
            </a:pPr>
          </a:p>
          <a:p>
            <a:pPr algn="l">
              <a:lnSpc>
                <a:spcPts val="1837"/>
              </a:lnSpc>
            </a:pPr>
          </a:p>
          <a:p>
            <a:pPr algn="l">
              <a:lnSpc>
                <a:spcPts val="2231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3287044" y="2098788"/>
            <a:ext cx="2798512" cy="874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</a:p>
          <a:p>
            <a:pPr algn="l">
              <a:lnSpc>
                <a:spcPts val="1819"/>
              </a:lnSpc>
            </a:pPr>
            <a:r>
              <a:rPr lang="en-US" sz="1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Input Validation: Validate CycloneDX or SPDX format.</a:t>
            </a:r>
          </a:p>
          <a:p>
            <a:pPr algn="l">
              <a:lnSpc>
                <a:spcPts val="153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9029700" y="2038841"/>
            <a:ext cx="2759183" cy="2513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7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</a:p>
          <a:p>
            <a:pPr algn="l">
              <a:lnSpc>
                <a:spcPts val="1837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I</a:t>
            </a: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ntegration: Fetch data from</a:t>
            </a: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OSV, EPSS, and CISA KEV.</a:t>
            </a:r>
          </a:p>
          <a:p>
            <a:pPr algn="l">
              <a:lnSpc>
                <a:spcPts val="1837"/>
              </a:lnSpc>
            </a:pPr>
          </a:p>
          <a:p>
            <a:pPr algn="l">
              <a:lnSpc>
                <a:spcPts val="1837"/>
              </a:lnSpc>
            </a:pPr>
          </a:p>
          <a:p>
            <a:pPr algn="l">
              <a:lnSpc>
                <a:spcPts val="1837"/>
              </a:lnSpc>
            </a:pPr>
          </a:p>
          <a:p>
            <a:pPr algn="l">
              <a:lnSpc>
                <a:spcPts val="1837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</a:p>
          <a:p>
            <a:pPr algn="l">
              <a:lnSpc>
                <a:spcPts val="1837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Action: Prioritize vulnerabilities and plan fixes.</a:t>
            </a:r>
          </a:p>
          <a:p>
            <a:pPr algn="l">
              <a:lnSpc>
                <a:spcPts val="1837"/>
              </a:lnSpc>
            </a:pPr>
          </a:p>
          <a:p>
            <a:pPr algn="l">
              <a:lnSpc>
                <a:spcPts val="1837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295650" y="3408842"/>
            <a:ext cx="2502484" cy="1422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</a:p>
          <a:p>
            <a:pPr algn="l">
              <a:lnSpc>
                <a:spcPts val="1875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Trust Assessment: Evaluate SBOM quality and completeness.</a:t>
            </a:r>
          </a:p>
          <a:p>
            <a:pPr algn="l">
              <a:lnSpc>
                <a:spcPts val="1875"/>
              </a:lnSpc>
            </a:pPr>
          </a:p>
          <a:p>
            <a:pPr algn="l">
              <a:lnSpc>
                <a:spcPts val="187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205005" y="3408842"/>
            <a:ext cx="2508094" cy="114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</a:p>
          <a:p>
            <a:pPr algn="l">
              <a:lnSpc>
                <a:spcPts val="182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Results Dashboard: Display findings and risk levels.</a:t>
            </a:r>
          </a:p>
          <a:p>
            <a:pPr algn="l">
              <a:lnSpc>
                <a:spcPts val="1824"/>
              </a:lnSpc>
            </a:pPr>
          </a:p>
          <a:p>
            <a:pPr algn="l">
              <a:lnSpc>
                <a:spcPts val="1824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342900" y="2098788"/>
            <a:ext cx="2882622" cy="73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 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</a:t>
            </a: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 Upload: Upload an SBOM file.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152231" y="2098788"/>
            <a:ext cx="2613643" cy="73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Parsing: Extract components and dependencies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2900" y="3400425"/>
            <a:ext cx="2581275" cy="98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Risk Analysis: Calculate vulnerability risk scores.</a:t>
            </a:r>
          </a:p>
          <a:p>
            <a:pPr algn="ctr">
              <a:lnSpc>
                <a:spcPts val="19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686300" y="419100"/>
            <a:ext cx="6172200" cy="19050"/>
            <a:chOff x="0" y="0"/>
            <a:chExt cx="61722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72200" cy="19050"/>
            </a:xfrm>
            <a:custGeom>
              <a:avLst/>
              <a:gdLst/>
              <a:ahLst/>
              <a:cxnLst/>
              <a:rect r="r" b="b" t="t" l="l"/>
              <a:pathLst>
                <a:path h="19050" w="61722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6162675" y="0"/>
                  </a:lnTo>
                  <a:cubicBezTo>
                    <a:pt x="6165342" y="0"/>
                    <a:pt x="6167501" y="889"/>
                    <a:pt x="6169406" y="2794"/>
                  </a:cubicBezTo>
                  <a:cubicBezTo>
                    <a:pt x="6171311" y="4699"/>
                    <a:pt x="6172200" y="6858"/>
                    <a:pt x="6172200" y="9525"/>
                  </a:cubicBezTo>
                  <a:cubicBezTo>
                    <a:pt x="6172200" y="12192"/>
                    <a:pt x="6171311" y="14351"/>
                    <a:pt x="6169406" y="16256"/>
                  </a:cubicBezTo>
                  <a:cubicBezTo>
                    <a:pt x="6167501" y="18161"/>
                    <a:pt x="6165342" y="19050"/>
                    <a:pt x="61626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9397" y="2479672"/>
            <a:ext cx="11633197" cy="136522"/>
          </a:xfrm>
          <a:custGeom>
            <a:avLst/>
            <a:gdLst/>
            <a:ahLst/>
            <a:cxnLst/>
            <a:rect r="r" b="b" t="t" l="l"/>
            <a:pathLst>
              <a:path h="136522" w="11633197">
                <a:moveTo>
                  <a:pt x="0" y="0"/>
                </a:moveTo>
                <a:lnTo>
                  <a:pt x="11633197" y="0"/>
                </a:lnTo>
                <a:lnTo>
                  <a:pt x="11633197" y="136522"/>
                </a:lnTo>
                <a:lnTo>
                  <a:pt x="0" y="1365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9397" y="2860672"/>
            <a:ext cx="11633197" cy="136522"/>
            <a:chOff x="0" y="0"/>
            <a:chExt cx="11633200" cy="136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9397" y="3241672"/>
            <a:ext cx="11633197" cy="136522"/>
            <a:chOff x="0" y="0"/>
            <a:chExt cx="11633200" cy="1365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79397" y="3622672"/>
            <a:ext cx="11633197" cy="136522"/>
            <a:chOff x="0" y="0"/>
            <a:chExt cx="11633200" cy="1365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9397" y="4003672"/>
            <a:ext cx="11633197" cy="136522"/>
            <a:chOff x="0" y="0"/>
            <a:chExt cx="11633200" cy="1365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79397" y="4394197"/>
            <a:ext cx="11633197" cy="136522"/>
            <a:chOff x="0" y="0"/>
            <a:chExt cx="11633200" cy="1365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79397" y="4775197"/>
            <a:ext cx="11633197" cy="136522"/>
            <a:chOff x="0" y="0"/>
            <a:chExt cx="11633200" cy="13652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3762375" cy="9525"/>
            </a:xfrm>
            <a:custGeom>
              <a:avLst/>
              <a:gdLst/>
              <a:ahLst/>
              <a:cxnLst/>
              <a:rect r="r" b="b" t="t" l="l"/>
              <a:pathLst>
                <a:path h="9525" w="3762375">
                  <a:moveTo>
                    <a:pt x="0" y="0"/>
                  </a:moveTo>
                  <a:lnTo>
                    <a:pt x="3762375" y="0"/>
                  </a:lnTo>
                  <a:lnTo>
                    <a:pt x="376237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825875" y="63500"/>
              <a:ext cx="7477125" cy="9525"/>
            </a:xfrm>
            <a:custGeom>
              <a:avLst/>
              <a:gdLst/>
              <a:ahLst/>
              <a:cxnLst/>
              <a:rect r="r" b="b" t="t" l="l"/>
              <a:pathLst>
                <a:path h="9525" w="7477125">
                  <a:moveTo>
                    <a:pt x="0" y="0"/>
                  </a:moveTo>
                  <a:lnTo>
                    <a:pt x="7477125" y="0"/>
                  </a:lnTo>
                  <a:lnTo>
                    <a:pt x="7477125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303000" y="63500"/>
              <a:ext cx="266700" cy="9525"/>
            </a:xfrm>
            <a:custGeom>
              <a:avLst/>
              <a:gdLst/>
              <a:ahLst/>
              <a:cxnLst/>
              <a:rect r="r" b="b" t="t" l="l"/>
              <a:pathLst>
                <a:path h="9525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76250" y="2591438"/>
            <a:ext cx="723062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FRONTEND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6250" y="2972438"/>
            <a:ext cx="631660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BACKEND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6250" y="3353438"/>
            <a:ext cx="1362885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SBOM PROCESSING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76250" y="3743963"/>
            <a:ext cx="1088679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INTELLIGENCE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76250" y="4124963"/>
            <a:ext cx="723062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ANALYSIS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6250" y="4505963"/>
            <a:ext cx="997277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OPTIONAL AI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6250" y="4886963"/>
            <a:ext cx="1545688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STORAGE / TESTING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400834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07/10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2900" y="314963"/>
            <a:ext cx="191130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06 | TECHNOLOGY STACK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2900" y="758561"/>
            <a:ext cx="9228963" cy="127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4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TECHN</a:t>
            </a:r>
            <a:r>
              <a:rPr lang="en-US" sz="4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OLOGY STACK</a:t>
            </a:r>
          </a:p>
          <a:p>
            <a:pPr algn="l">
              <a:lnSpc>
                <a:spcPts val="494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342900" y="1619869"/>
            <a:ext cx="5053012" cy="488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3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Built with Mod</a:t>
            </a:r>
            <a:r>
              <a:rPr lang="en-US" b="true" sz="1399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ern Web Technologies &amp; Security Intelligence</a:t>
            </a:r>
          </a:p>
          <a:p>
            <a:pPr algn="l">
              <a:lnSpc>
                <a:spcPts val="195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4710389" y="2605135"/>
            <a:ext cx="50987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233862" y="2519358"/>
            <a:ext cx="2895645" cy="242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4687" indent="-152344" lvl="1">
              <a:lnSpc>
                <a:spcPts val="1975"/>
              </a:lnSpc>
              <a:buFont typeface="Arial"/>
              <a:buChar char="•"/>
            </a:pPr>
            <a:r>
              <a:rPr lang="en-US" sz="1411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React 19, Vite, Tailwind CSS v4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349439" y="2828420"/>
            <a:ext cx="6845922" cy="3392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Node.js, Express 5, Multer</a:t>
            </a:r>
          </a:p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CycloneDX JSON and SPDX JSON parsers</a:t>
            </a:r>
          </a:p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Groq, first EPSS,OSV,CISA</a:t>
            </a:r>
          </a:p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Contextual Risk Scoring Engine</a:t>
            </a:r>
          </a:p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Copilot</a:t>
            </a:r>
          </a:p>
          <a:p>
            <a:pPr algn="l">
              <a:lnSpc>
                <a:spcPts val="3014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Backend Memory,local storage,SQL Lite 3</a:t>
            </a: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  <a:p>
            <a:pPr algn="l">
              <a:lnSpc>
                <a:spcPts val="301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047" y="172545"/>
            <a:ext cx="3370352" cy="49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FORMULA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047" y="1750080"/>
            <a:ext cx="5612466" cy="3811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b="true" sz="1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</a:t>
            </a:r>
            <a:r>
              <a:rPr lang="en-US" b="true" sz="19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textual Risk-Scoring Formula</a:t>
            </a:r>
          </a:p>
          <a:p>
            <a:pPr algn="l">
              <a:lnSpc>
                <a:spcPts val="2056"/>
              </a:lnSpc>
            </a:pPr>
          </a:p>
          <a:p>
            <a:pPr algn="l">
              <a:lnSpc>
                <a:spcPts val="2056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 = 0.40 × Vulnerability Severity (CVSS)</a:t>
            </a:r>
          </a:p>
          <a:p>
            <a:pPr algn="l">
              <a:lnSpc>
                <a:spcPts val="2056"/>
              </a:lnSpc>
            </a:pPr>
          </a:p>
          <a:p>
            <a:pPr algn="l">
              <a:lnSpc>
                <a:spcPts val="2056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+0.20 × Dependency Context</a:t>
            </a:r>
          </a:p>
          <a:p>
            <a:pPr algn="l">
              <a:lnSpc>
                <a:spcPts val="2056"/>
              </a:lnSpc>
            </a:pPr>
          </a:p>
          <a:p>
            <a:pPr algn="l">
              <a:lnSpc>
                <a:spcPts val="2056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+0.15 x Exploit Prediction Score (EPSS)</a:t>
            </a:r>
          </a:p>
          <a:p>
            <a:pPr algn="l">
              <a:lnSpc>
                <a:spcPts val="2056"/>
              </a:lnSpc>
            </a:pPr>
          </a:p>
          <a:p>
            <a:pPr algn="l">
              <a:lnSpc>
                <a:spcPts val="2056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+0.10 × CISA Known Exploited Vulnerabi</a:t>
            </a:r>
          </a:p>
          <a:p>
            <a:pPr algn="l">
              <a:lnSpc>
                <a:spcPts val="2056"/>
              </a:lnSpc>
            </a:pPr>
          </a:p>
          <a:p>
            <a:pPr algn="l">
              <a:lnSpc>
                <a:spcPts val="2056"/>
              </a:lnSpc>
            </a:pPr>
            <a:r>
              <a:rPr lang="en-US" sz="15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+0.10 x Fix Availability</a:t>
            </a:r>
          </a:p>
          <a:p>
            <a:pPr algn="l">
              <a:lnSpc>
                <a:spcPts val="2056"/>
              </a:lnSpc>
            </a:pPr>
          </a:p>
          <a:p>
            <a:pPr algn="l" marL="323742" indent="-161871" lvl="1">
              <a:lnSpc>
                <a:spcPts val="1928"/>
              </a:lnSpc>
              <a:buFont typeface="Arial"/>
              <a:buChar char="•"/>
            </a:pPr>
            <a:r>
              <a:rPr lang="en-US" sz="1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+0.05 × Evidence Quality</a:t>
            </a:r>
          </a:p>
          <a:p>
            <a:pPr algn="l">
              <a:lnSpc>
                <a:spcPts val="1671"/>
              </a:lnSpc>
            </a:pPr>
          </a:p>
          <a:p>
            <a:pPr algn="l">
              <a:lnSpc>
                <a:spcPts val="167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628204" y="2646894"/>
            <a:ext cx="6563796" cy="306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Risk Score</a:t>
            </a: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=∑Applicable Weights∑(Factor Score×Weight)​×100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9118" y="1599215"/>
            <a:ext cx="7867942" cy="4401725"/>
          </a:xfrm>
          <a:custGeom>
            <a:avLst/>
            <a:gdLst/>
            <a:ahLst/>
            <a:cxnLst/>
            <a:rect r="r" b="b" t="t" l="l"/>
            <a:pathLst>
              <a:path h="4401725" w="7867942">
                <a:moveTo>
                  <a:pt x="0" y="0"/>
                </a:moveTo>
                <a:lnTo>
                  <a:pt x="7867942" y="0"/>
                </a:lnTo>
                <a:lnTo>
                  <a:pt x="7867942" y="4401725"/>
                </a:lnTo>
                <a:lnTo>
                  <a:pt x="0" y="440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0" r="0" b="-107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8715" y="638175"/>
            <a:ext cx="3035986" cy="405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</a:t>
            </a: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Architecture: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75" y="1725634"/>
            <a:ext cx="5612466" cy="1958093"/>
            <a:chOff x="0" y="0"/>
            <a:chExt cx="5596793" cy="1952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6793" cy="1952625"/>
            </a:xfrm>
            <a:custGeom>
              <a:avLst/>
              <a:gdLst/>
              <a:ahLst/>
              <a:cxnLst/>
              <a:rect r="r" b="b" t="t" l="l"/>
              <a:pathLst>
                <a:path h="1952625" w="5596793">
                  <a:moveTo>
                    <a:pt x="0" y="0"/>
                  </a:moveTo>
                  <a:lnTo>
                    <a:pt x="5596793" y="0"/>
                  </a:lnTo>
                  <a:lnTo>
                    <a:pt x="5596793" y="1952625"/>
                  </a:lnTo>
                  <a:lnTo>
                    <a:pt x="0" y="1952625"/>
                  </a:lnTo>
                  <a:close/>
                </a:path>
              </a:pathLst>
            </a:custGeom>
            <a:solidFill>
              <a:srgbClr val="5A659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448038" y="1725634"/>
            <a:ext cx="5743962" cy="1924284"/>
            <a:chOff x="0" y="0"/>
            <a:chExt cx="5828560" cy="1952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28560" cy="1952625"/>
            </a:xfrm>
            <a:custGeom>
              <a:avLst/>
              <a:gdLst/>
              <a:ahLst/>
              <a:cxnLst/>
              <a:rect r="r" b="b" t="t" l="l"/>
              <a:pathLst>
                <a:path h="1952625" w="5828560">
                  <a:moveTo>
                    <a:pt x="0" y="0"/>
                  </a:moveTo>
                  <a:lnTo>
                    <a:pt x="5828560" y="0"/>
                  </a:lnTo>
                  <a:lnTo>
                    <a:pt x="5828560" y="1952625"/>
                  </a:lnTo>
                  <a:lnTo>
                    <a:pt x="0" y="1952625"/>
                  </a:lnTo>
                  <a:close/>
                </a:path>
              </a:pathLst>
            </a:custGeom>
            <a:solidFill>
              <a:srgbClr val="5A659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575" y="4147110"/>
            <a:ext cx="5612466" cy="1952625"/>
            <a:chOff x="0" y="0"/>
            <a:chExt cx="5612466" cy="19526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12466" cy="1952625"/>
            </a:xfrm>
            <a:custGeom>
              <a:avLst/>
              <a:gdLst/>
              <a:ahLst/>
              <a:cxnLst/>
              <a:rect r="r" b="b" t="t" l="l"/>
              <a:pathLst>
                <a:path h="1952625" w="5612466">
                  <a:moveTo>
                    <a:pt x="0" y="0"/>
                  </a:moveTo>
                  <a:lnTo>
                    <a:pt x="5612466" y="0"/>
                  </a:lnTo>
                  <a:lnTo>
                    <a:pt x="5612466" y="1952625"/>
                  </a:lnTo>
                  <a:lnTo>
                    <a:pt x="0" y="1952625"/>
                  </a:lnTo>
                  <a:close/>
                </a:path>
              </a:pathLst>
            </a:custGeom>
            <a:solidFill>
              <a:srgbClr val="5A6597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48038" y="4147110"/>
            <a:ext cx="5743962" cy="1952625"/>
            <a:chOff x="0" y="0"/>
            <a:chExt cx="5743962" cy="19526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43962" cy="1952625"/>
            </a:xfrm>
            <a:custGeom>
              <a:avLst/>
              <a:gdLst/>
              <a:ahLst/>
              <a:cxnLst/>
              <a:rect r="r" b="b" t="t" l="l"/>
              <a:pathLst>
                <a:path h="1952625" w="5743962">
                  <a:moveTo>
                    <a:pt x="0" y="0"/>
                  </a:moveTo>
                  <a:lnTo>
                    <a:pt x="5743962" y="0"/>
                  </a:lnTo>
                  <a:lnTo>
                    <a:pt x="5743962" y="1952625"/>
                  </a:lnTo>
                  <a:lnTo>
                    <a:pt x="0" y="1952625"/>
                  </a:lnTo>
                  <a:close/>
                </a:path>
              </a:pathLst>
            </a:custGeom>
            <a:solidFill>
              <a:srgbClr val="5A6597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575" y="80969"/>
            <a:ext cx="11594687" cy="1295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4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TECHNIC</a:t>
            </a:r>
            <a:r>
              <a:rPr lang="en-US" sz="49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AL FEASIBILITY &amp; 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4219" y="2284638"/>
            <a:ext cx="43720" cy="21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575" y="1706584"/>
            <a:ext cx="5612466" cy="208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Implemen</a:t>
            </a:r>
            <a:r>
              <a:rPr lang="en-US" sz="1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tation Approach:</a:t>
            </a:r>
          </a:p>
          <a:p>
            <a:pPr algn="l" marL="366920" indent="-183460" lvl="1">
              <a:lnSpc>
                <a:spcPts val="2185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React + Vite frontend; Node.js + Express backend</a:t>
            </a:r>
          </a:p>
          <a:p>
            <a:pPr algn="l" marL="366920" indent="-183460" lvl="1">
              <a:lnSpc>
                <a:spcPts val="2185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Parse CycloneDX/SPDX SBOMs and enrich findings using OSV, EPSS, and CISA KEV</a:t>
            </a:r>
          </a:p>
          <a:p>
            <a:pPr algn="l" marL="366920" indent="-183460" lvl="1">
              <a:lnSpc>
                <a:spcPts val="2185"/>
              </a:lnSpc>
              <a:buFont typeface="Arial"/>
              <a:buChar char="•"/>
            </a:pPr>
            <a:r>
              <a:rPr lang="en-US" sz="16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deterministic risk scoring and SBOM quality analysis</a:t>
            </a:r>
          </a:p>
          <a:p>
            <a:pPr algn="l">
              <a:lnSpc>
                <a:spcPts val="1671"/>
              </a:lnSpc>
            </a:pPr>
          </a:p>
          <a:p>
            <a:pPr algn="l">
              <a:lnSpc>
                <a:spcPts val="167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448038" y="1706584"/>
            <a:ext cx="5743962" cy="2091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9"/>
              </a:lnSpc>
            </a:pPr>
            <a:r>
              <a:rPr lang="en-US" sz="2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24-H</a:t>
            </a:r>
            <a:r>
              <a:rPr lang="en-US" sz="2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our Development Strategy:</a:t>
            </a:r>
          </a:p>
          <a:p>
            <a:pPr algn="l" marL="388512" indent="-194256" lvl="1">
              <a:lnSpc>
                <a:spcPts val="2314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0–4 hrs: UI setup, architecture, and SBOM upload</a:t>
            </a:r>
          </a:p>
          <a:p>
            <a:pPr algn="l" marL="388512" indent="-194256" lvl="1">
              <a:lnSpc>
                <a:spcPts val="2314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4–10 hrs: Parsing and vulnerability data integration</a:t>
            </a:r>
          </a:p>
          <a:p>
            <a:pPr algn="l" marL="388512" indent="-194256" lvl="1">
              <a:lnSpc>
                <a:spcPts val="2314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10–16 hrs: Risk scoring and trust analysis</a:t>
            </a:r>
          </a:p>
          <a:p>
            <a:pPr algn="l" marL="388512" indent="-194256" lvl="1">
              <a:lnSpc>
                <a:spcPts val="2314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16–21 hrs: Dashboard, findings, and error handling</a:t>
            </a:r>
          </a:p>
          <a:p>
            <a:pPr algn="l" marL="388512" indent="-194256" lvl="1">
              <a:lnSpc>
                <a:spcPts val="2314"/>
              </a:lnSpc>
              <a:buFont typeface="Arial"/>
              <a:buChar char="•"/>
            </a:pPr>
            <a:r>
              <a:rPr lang="en-US" sz="1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21–24 hrs: Testing, integration, and demo preparation</a:t>
            </a:r>
          </a:p>
          <a:p>
            <a:pPr algn="l">
              <a:lnSpc>
                <a:spcPts val="26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0575" y="4144511"/>
            <a:ext cx="5643041" cy="202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0"/>
              </a:lnSpc>
            </a:pPr>
            <a:r>
              <a:rPr lang="en-US" sz="17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Maj</a:t>
            </a:r>
            <a:r>
              <a:rPr lang="en-US" sz="17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 Challenges &amp; Mitigation:</a:t>
            </a:r>
          </a:p>
          <a:p>
            <a:pPr algn="l" marL="345331" indent="-172665" lvl="1">
              <a:lnSpc>
                <a:spcPts val="2088"/>
              </a:lnSpc>
              <a:buFont typeface="Arial"/>
              <a:buChar char="•"/>
            </a:pPr>
            <a:r>
              <a:rPr lang="en-US" sz="15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Incomplete SBOM data → Flag unknowns instead of assuming safety</a:t>
            </a:r>
          </a:p>
          <a:p>
            <a:pPr algn="l" marL="345331" indent="-172665" lvl="1">
              <a:lnSpc>
                <a:spcPts val="2088"/>
              </a:lnSpc>
              <a:buFont typeface="Arial"/>
              <a:buChar char="•"/>
            </a:pPr>
            <a:r>
              <a:rPr lang="en-US" sz="15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External API failures → Handle errors and clearly indicate unavailable data</a:t>
            </a:r>
          </a:p>
          <a:p>
            <a:pPr algn="l" marL="345331" indent="-172665" lvl="1">
              <a:lnSpc>
                <a:spcPts val="2088"/>
              </a:lnSpc>
              <a:buFont typeface="Arial"/>
              <a:buChar char="•"/>
            </a:pPr>
            <a:r>
              <a:rPr lang="en-US" sz="1599" spc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Limited development time → Prioritize a working core flow over advanced features</a:t>
            </a:r>
          </a:p>
          <a:p>
            <a:pPr algn="l">
              <a:lnSpc>
                <a:spcPts val="1566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448038" y="4118535"/>
            <a:ext cx="5743962" cy="237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1"/>
              </a:lnSpc>
            </a:pPr>
            <a:r>
              <a:rPr lang="en-US" sz="2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Prototype / Demo </a:t>
            </a:r>
            <a:r>
              <a:rPr lang="en-US" sz="2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Status:</a:t>
            </a:r>
          </a:p>
          <a:p>
            <a:pPr algn="just" marL="345333" indent="-172666" lvl="1">
              <a:lnSpc>
                <a:spcPts val="2088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Working prototype: SBOM upload and analysis workflow, risk scoring, trust scoring, and findings dashboard</a:t>
            </a:r>
          </a:p>
          <a:p>
            <a:pPr algn="just" marL="345333" indent="-172666" lvl="1">
              <a:lnSpc>
                <a:spcPts val="2088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Test result: Sample SBOM with 2 components, 5 findings, and a MEDIUM overall risk score</a:t>
            </a:r>
          </a:p>
          <a:p>
            <a:pPr algn="just" marL="345333" indent="-172666" lvl="1">
              <a:lnSpc>
                <a:spcPts val="2088"/>
              </a:lnSpc>
              <a:buFont typeface="Arial"/>
              <a:buChar char="•"/>
            </a:pPr>
            <a:r>
              <a:rPr lang="en-US" sz="15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Future work: Production hardening, broader testing, and scalable deployment</a:t>
            </a:r>
          </a:p>
          <a:p>
            <a:pPr algn="just">
              <a:lnSpc>
                <a:spcPts val="2088"/>
              </a:lnSpc>
            </a:pPr>
          </a:p>
          <a:p>
            <a:pPr algn="just">
              <a:lnSpc>
                <a:spcPts val="1827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202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900" y="2038350"/>
            <a:ext cx="3733800" cy="2847975"/>
            <a:chOff x="0" y="0"/>
            <a:chExt cx="3733800" cy="2847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33800" cy="2847975"/>
            </a:xfrm>
            <a:custGeom>
              <a:avLst/>
              <a:gdLst/>
              <a:ahLst/>
              <a:cxnLst/>
              <a:rect r="r" b="b" t="t" l="l"/>
              <a:pathLst>
                <a:path h="2847975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2847975"/>
                  </a:lnTo>
                  <a:lnTo>
                    <a:pt x="0" y="2847975"/>
                  </a:lnTo>
                  <a:close/>
                </a:path>
              </a:pathLst>
            </a:custGeom>
            <a:solidFill>
              <a:srgbClr val="5A659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29100" y="2038350"/>
            <a:ext cx="3733800" cy="2847975"/>
            <a:chOff x="0" y="0"/>
            <a:chExt cx="3733800" cy="2847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33800" cy="2847975"/>
            </a:xfrm>
            <a:custGeom>
              <a:avLst/>
              <a:gdLst/>
              <a:ahLst/>
              <a:cxnLst/>
              <a:rect r="r" b="b" t="t" l="l"/>
              <a:pathLst>
                <a:path h="2847975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2847975"/>
                  </a:lnTo>
                  <a:lnTo>
                    <a:pt x="0" y="2847975"/>
                  </a:lnTo>
                  <a:close/>
                </a:path>
              </a:pathLst>
            </a:custGeom>
            <a:solidFill>
              <a:srgbClr val="666666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86300" y="419100"/>
            <a:ext cx="6172200" cy="19050"/>
            <a:chOff x="0" y="0"/>
            <a:chExt cx="6172200" cy="19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72200" cy="19050"/>
            </a:xfrm>
            <a:custGeom>
              <a:avLst/>
              <a:gdLst/>
              <a:ahLst/>
              <a:cxnLst/>
              <a:rect r="r" b="b" t="t" l="l"/>
              <a:pathLst>
                <a:path h="19050" w="617220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6162675" y="0"/>
                  </a:lnTo>
                  <a:cubicBezTo>
                    <a:pt x="6165342" y="0"/>
                    <a:pt x="6167501" y="889"/>
                    <a:pt x="6169406" y="2794"/>
                  </a:cubicBezTo>
                  <a:cubicBezTo>
                    <a:pt x="6171311" y="4699"/>
                    <a:pt x="6172200" y="6858"/>
                    <a:pt x="6172200" y="9525"/>
                  </a:cubicBezTo>
                  <a:cubicBezTo>
                    <a:pt x="6172200" y="12192"/>
                    <a:pt x="6171311" y="14351"/>
                    <a:pt x="6169406" y="16256"/>
                  </a:cubicBezTo>
                  <a:cubicBezTo>
                    <a:pt x="6167501" y="18161"/>
                    <a:pt x="6165342" y="19050"/>
                    <a:pt x="61626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52749" y="5184128"/>
            <a:ext cx="4857750" cy="1428750"/>
            <a:chOff x="0" y="0"/>
            <a:chExt cx="4857750" cy="1428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57750" cy="1428750"/>
            </a:xfrm>
            <a:custGeom>
              <a:avLst/>
              <a:gdLst/>
              <a:ahLst/>
              <a:cxnLst/>
              <a:rect r="r" b="b" t="t" l="l"/>
              <a:pathLst>
                <a:path h="1428750" w="4857750">
                  <a:moveTo>
                    <a:pt x="0" y="1366520"/>
                  </a:moveTo>
                  <a:lnTo>
                    <a:pt x="0" y="62230"/>
                  </a:lnTo>
                  <a:lnTo>
                    <a:pt x="9525" y="62230"/>
                  </a:lnTo>
                  <a:lnTo>
                    <a:pt x="0" y="62230"/>
                  </a:lnTo>
                  <a:cubicBezTo>
                    <a:pt x="0" y="58166"/>
                    <a:pt x="381" y="54102"/>
                    <a:pt x="1143" y="50038"/>
                  </a:cubicBezTo>
                  <a:lnTo>
                    <a:pt x="10541" y="51943"/>
                  </a:lnTo>
                  <a:lnTo>
                    <a:pt x="1143" y="50038"/>
                  </a:lnTo>
                  <a:cubicBezTo>
                    <a:pt x="1905" y="45974"/>
                    <a:pt x="3175" y="42164"/>
                    <a:pt x="4699" y="38354"/>
                  </a:cubicBezTo>
                  <a:lnTo>
                    <a:pt x="13462" y="42037"/>
                  </a:lnTo>
                  <a:lnTo>
                    <a:pt x="4699" y="38354"/>
                  </a:lnTo>
                  <a:cubicBezTo>
                    <a:pt x="6223" y="34544"/>
                    <a:pt x="8128" y="30988"/>
                    <a:pt x="10414" y="27559"/>
                  </a:cubicBezTo>
                  <a:lnTo>
                    <a:pt x="18288" y="32893"/>
                  </a:lnTo>
                  <a:lnTo>
                    <a:pt x="10414" y="27559"/>
                  </a:lnTo>
                  <a:cubicBezTo>
                    <a:pt x="12700" y="24130"/>
                    <a:pt x="15240" y="20955"/>
                    <a:pt x="18161" y="18161"/>
                  </a:cubicBezTo>
                  <a:lnTo>
                    <a:pt x="24892" y="24892"/>
                  </a:lnTo>
                  <a:lnTo>
                    <a:pt x="18161" y="18161"/>
                  </a:lnTo>
                  <a:cubicBezTo>
                    <a:pt x="21082" y="15240"/>
                    <a:pt x="24257" y="12700"/>
                    <a:pt x="27559" y="10414"/>
                  </a:cubicBezTo>
                  <a:lnTo>
                    <a:pt x="32893" y="18288"/>
                  </a:lnTo>
                  <a:lnTo>
                    <a:pt x="27686" y="10541"/>
                  </a:lnTo>
                  <a:cubicBezTo>
                    <a:pt x="31115" y="8255"/>
                    <a:pt x="34671" y="6350"/>
                    <a:pt x="38481" y="4826"/>
                  </a:cubicBezTo>
                  <a:cubicBezTo>
                    <a:pt x="42291" y="3302"/>
                    <a:pt x="46101" y="2032"/>
                    <a:pt x="50165" y="1270"/>
                  </a:cubicBezTo>
                  <a:cubicBezTo>
                    <a:pt x="54102" y="381"/>
                    <a:pt x="58166" y="0"/>
                    <a:pt x="62230" y="0"/>
                  </a:cubicBezTo>
                  <a:lnTo>
                    <a:pt x="62230" y="9525"/>
                  </a:lnTo>
                  <a:lnTo>
                    <a:pt x="62230" y="0"/>
                  </a:lnTo>
                  <a:lnTo>
                    <a:pt x="4795520" y="0"/>
                  </a:lnTo>
                  <a:lnTo>
                    <a:pt x="4795520" y="9525"/>
                  </a:lnTo>
                  <a:lnTo>
                    <a:pt x="4795520" y="0"/>
                  </a:lnTo>
                  <a:cubicBezTo>
                    <a:pt x="4799584" y="0"/>
                    <a:pt x="4803648" y="381"/>
                    <a:pt x="4807712" y="1143"/>
                  </a:cubicBezTo>
                  <a:cubicBezTo>
                    <a:pt x="4811776" y="1905"/>
                    <a:pt x="4815586" y="3175"/>
                    <a:pt x="4819396" y="4699"/>
                  </a:cubicBezTo>
                  <a:lnTo>
                    <a:pt x="4815713" y="13462"/>
                  </a:lnTo>
                  <a:lnTo>
                    <a:pt x="4819396" y="4699"/>
                  </a:lnTo>
                  <a:cubicBezTo>
                    <a:pt x="4823206" y="6223"/>
                    <a:pt x="4826762" y="8128"/>
                    <a:pt x="4830191" y="10414"/>
                  </a:cubicBezTo>
                  <a:cubicBezTo>
                    <a:pt x="4833620" y="12700"/>
                    <a:pt x="4836668" y="15240"/>
                    <a:pt x="4839589" y="18161"/>
                  </a:cubicBezTo>
                  <a:lnTo>
                    <a:pt x="4832858" y="24892"/>
                  </a:lnTo>
                  <a:lnTo>
                    <a:pt x="4839589" y="18161"/>
                  </a:lnTo>
                  <a:cubicBezTo>
                    <a:pt x="4842510" y="21082"/>
                    <a:pt x="4845050" y="24257"/>
                    <a:pt x="4847336" y="27559"/>
                  </a:cubicBezTo>
                  <a:lnTo>
                    <a:pt x="4839462" y="32893"/>
                  </a:lnTo>
                  <a:lnTo>
                    <a:pt x="4847336" y="27559"/>
                  </a:lnTo>
                  <a:cubicBezTo>
                    <a:pt x="4849622" y="30988"/>
                    <a:pt x="4851527" y="34544"/>
                    <a:pt x="4853051" y="38354"/>
                  </a:cubicBezTo>
                  <a:cubicBezTo>
                    <a:pt x="4854575" y="42164"/>
                    <a:pt x="4855845" y="45974"/>
                    <a:pt x="4856607" y="50038"/>
                  </a:cubicBezTo>
                  <a:lnTo>
                    <a:pt x="4847209" y="51943"/>
                  </a:lnTo>
                  <a:lnTo>
                    <a:pt x="4856607" y="50038"/>
                  </a:lnTo>
                  <a:cubicBezTo>
                    <a:pt x="4857369" y="54102"/>
                    <a:pt x="4857750" y="58039"/>
                    <a:pt x="4857750" y="62230"/>
                  </a:cubicBezTo>
                  <a:lnTo>
                    <a:pt x="4857750" y="1366520"/>
                  </a:lnTo>
                  <a:cubicBezTo>
                    <a:pt x="4857750" y="1370584"/>
                    <a:pt x="4857369" y="1374648"/>
                    <a:pt x="4856607" y="1378712"/>
                  </a:cubicBezTo>
                  <a:lnTo>
                    <a:pt x="4847209" y="1376807"/>
                  </a:lnTo>
                  <a:lnTo>
                    <a:pt x="4856607" y="1378712"/>
                  </a:lnTo>
                  <a:cubicBezTo>
                    <a:pt x="4855845" y="1382776"/>
                    <a:pt x="4854575" y="1386586"/>
                    <a:pt x="4853051" y="1390396"/>
                  </a:cubicBezTo>
                  <a:lnTo>
                    <a:pt x="4844288" y="1386713"/>
                  </a:lnTo>
                  <a:lnTo>
                    <a:pt x="4853051" y="1390396"/>
                  </a:lnTo>
                  <a:cubicBezTo>
                    <a:pt x="4851527" y="1394206"/>
                    <a:pt x="4849622" y="1397762"/>
                    <a:pt x="4847336" y="1401191"/>
                  </a:cubicBezTo>
                  <a:cubicBezTo>
                    <a:pt x="4845050" y="1404620"/>
                    <a:pt x="4842510" y="1407795"/>
                    <a:pt x="4839589" y="1410589"/>
                  </a:cubicBezTo>
                  <a:cubicBezTo>
                    <a:pt x="4836668" y="1413510"/>
                    <a:pt x="4833493" y="1416050"/>
                    <a:pt x="4830191" y="1418336"/>
                  </a:cubicBezTo>
                  <a:cubicBezTo>
                    <a:pt x="4826762" y="1420622"/>
                    <a:pt x="4823206" y="1422527"/>
                    <a:pt x="4819396" y="1424051"/>
                  </a:cubicBezTo>
                  <a:cubicBezTo>
                    <a:pt x="4815586" y="1425575"/>
                    <a:pt x="4811776" y="1426845"/>
                    <a:pt x="4807712" y="1427607"/>
                  </a:cubicBezTo>
                  <a:lnTo>
                    <a:pt x="4805807" y="1418209"/>
                  </a:lnTo>
                  <a:lnTo>
                    <a:pt x="4807712" y="1427607"/>
                  </a:lnTo>
                  <a:cubicBezTo>
                    <a:pt x="4803648" y="1428369"/>
                    <a:pt x="4799711" y="1428750"/>
                    <a:pt x="4795520" y="1428750"/>
                  </a:cubicBezTo>
                  <a:lnTo>
                    <a:pt x="62230" y="1428750"/>
                  </a:lnTo>
                  <a:cubicBezTo>
                    <a:pt x="58166" y="1428750"/>
                    <a:pt x="54102" y="1428369"/>
                    <a:pt x="50038" y="1427607"/>
                  </a:cubicBezTo>
                  <a:lnTo>
                    <a:pt x="51943" y="1418209"/>
                  </a:lnTo>
                  <a:lnTo>
                    <a:pt x="50038" y="1427607"/>
                  </a:lnTo>
                  <a:cubicBezTo>
                    <a:pt x="45974" y="1426845"/>
                    <a:pt x="42164" y="1425575"/>
                    <a:pt x="38354" y="1424051"/>
                  </a:cubicBezTo>
                  <a:cubicBezTo>
                    <a:pt x="34544" y="1422527"/>
                    <a:pt x="30988" y="1420622"/>
                    <a:pt x="27559" y="1418336"/>
                  </a:cubicBezTo>
                  <a:lnTo>
                    <a:pt x="32893" y="1410462"/>
                  </a:lnTo>
                  <a:lnTo>
                    <a:pt x="27559" y="1418336"/>
                  </a:lnTo>
                  <a:cubicBezTo>
                    <a:pt x="24130" y="1416050"/>
                    <a:pt x="20955" y="1413510"/>
                    <a:pt x="18161" y="1410589"/>
                  </a:cubicBezTo>
                  <a:cubicBezTo>
                    <a:pt x="15240" y="1407668"/>
                    <a:pt x="12700" y="1404493"/>
                    <a:pt x="10414" y="1401191"/>
                  </a:cubicBezTo>
                  <a:cubicBezTo>
                    <a:pt x="8128" y="1397762"/>
                    <a:pt x="6223" y="1394206"/>
                    <a:pt x="4699" y="1390396"/>
                  </a:cubicBezTo>
                  <a:lnTo>
                    <a:pt x="13462" y="1386713"/>
                  </a:lnTo>
                  <a:lnTo>
                    <a:pt x="4699" y="1390396"/>
                  </a:lnTo>
                  <a:cubicBezTo>
                    <a:pt x="3175" y="1386586"/>
                    <a:pt x="1905" y="1382776"/>
                    <a:pt x="1143" y="1378712"/>
                  </a:cubicBezTo>
                  <a:lnTo>
                    <a:pt x="10541" y="1376807"/>
                  </a:lnTo>
                  <a:lnTo>
                    <a:pt x="1143" y="1378712"/>
                  </a:lnTo>
                  <a:cubicBezTo>
                    <a:pt x="381" y="1374648"/>
                    <a:pt x="0" y="1370711"/>
                    <a:pt x="0" y="1366520"/>
                  </a:cubicBezTo>
                  <a:lnTo>
                    <a:pt x="9525" y="1366520"/>
                  </a:lnTo>
                  <a:lnTo>
                    <a:pt x="0" y="1366520"/>
                  </a:lnTo>
                  <a:moveTo>
                    <a:pt x="19050" y="1366520"/>
                  </a:moveTo>
                  <a:cubicBezTo>
                    <a:pt x="19050" y="1369314"/>
                    <a:pt x="19304" y="1372108"/>
                    <a:pt x="19939" y="1374902"/>
                  </a:cubicBezTo>
                  <a:cubicBezTo>
                    <a:pt x="20447" y="1377696"/>
                    <a:pt x="21336" y="1380363"/>
                    <a:pt x="22352" y="1383030"/>
                  </a:cubicBezTo>
                  <a:cubicBezTo>
                    <a:pt x="23368" y="1385697"/>
                    <a:pt x="24765" y="1388110"/>
                    <a:pt x="26289" y="1390523"/>
                  </a:cubicBezTo>
                  <a:lnTo>
                    <a:pt x="18415" y="1395857"/>
                  </a:lnTo>
                  <a:lnTo>
                    <a:pt x="26289" y="1390523"/>
                  </a:lnTo>
                  <a:cubicBezTo>
                    <a:pt x="27813" y="1392936"/>
                    <a:pt x="29591" y="1395095"/>
                    <a:pt x="31623" y="1397127"/>
                  </a:cubicBezTo>
                  <a:lnTo>
                    <a:pt x="24892" y="1403858"/>
                  </a:lnTo>
                  <a:lnTo>
                    <a:pt x="31623" y="1397127"/>
                  </a:lnTo>
                  <a:cubicBezTo>
                    <a:pt x="33655" y="1399159"/>
                    <a:pt x="35814" y="1400937"/>
                    <a:pt x="38227" y="1402461"/>
                  </a:cubicBezTo>
                  <a:cubicBezTo>
                    <a:pt x="40640" y="1403985"/>
                    <a:pt x="43053" y="1405382"/>
                    <a:pt x="45720" y="1406398"/>
                  </a:cubicBezTo>
                  <a:lnTo>
                    <a:pt x="42037" y="1415161"/>
                  </a:lnTo>
                  <a:lnTo>
                    <a:pt x="45720" y="1406398"/>
                  </a:lnTo>
                  <a:cubicBezTo>
                    <a:pt x="48387" y="1407541"/>
                    <a:pt x="51054" y="1408303"/>
                    <a:pt x="53848" y="1408811"/>
                  </a:cubicBezTo>
                  <a:cubicBezTo>
                    <a:pt x="56642" y="1409319"/>
                    <a:pt x="59436" y="1409700"/>
                    <a:pt x="62230" y="1409700"/>
                  </a:cubicBezTo>
                  <a:lnTo>
                    <a:pt x="62230" y="1419225"/>
                  </a:lnTo>
                  <a:lnTo>
                    <a:pt x="62230" y="1409700"/>
                  </a:lnTo>
                  <a:lnTo>
                    <a:pt x="4795520" y="1409700"/>
                  </a:lnTo>
                  <a:lnTo>
                    <a:pt x="4795520" y="1419225"/>
                  </a:lnTo>
                  <a:lnTo>
                    <a:pt x="4795520" y="1409700"/>
                  </a:lnTo>
                  <a:cubicBezTo>
                    <a:pt x="4798314" y="1409700"/>
                    <a:pt x="4801108" y="1409446"/>
                    <a:pt x="4803902" y="1408811"/>
                  </a:cubicBezTo>
                  <a:cubicBezTo>
                    <a:pt x="4806696" y="1408303"/>
                    <a:pt x="4809363" y="1407414"/>
                    <a:pt x="4812030" y="1406398"/>
                  </a:cubicBezTo>
                  <a:lnTo>
                    <a:pt x="4815713" y="1415161"/>
                  </a:lnTo>
                  <a:lnTo>
                    <a:pt x="4812030" y="1406398"/>
                  </a:lnTo>
                  <a:cubicBezTo>
                    <a:pt x="4814697" y="1405255"/>
                    <a:pt x="4817110" y="1403985"/>
                    <a:pt x="4819523" y="1402461"/>
                  </a:cubicBezTo>
                  <a:lnTo>
                    <a:pt x="4824857" y="1410335"/>
                  </a:lnTo>
                  <a:lnTo>
                    <a:pt x="4819523" y="1402461"/>
                  </a:lnTo>
                  <a:cubicBezTo>
                    <a:pt x="4821936" y="1400937"/>
                    <a:pt x="4824095" y="1399032"/>
                    <a:pt x="4826127" y="1397127"/>
                  </a:cubicBezTo>
                  <a:lnTo>
                    <a:pt x="4832858" y="1403858"/>
                  </a:lnTo>
                  <a:lnTo>
                    <a:pt x="4826000" y="1397000"/>
                  </a:lnTo>
                  <a:cubicBezTo>
                    <a:pt x="4828032" y="1394968"/>
                    <a:pt x="4829810" y="1392809"/>
                    <a:pt x="4831334" y="1390396"/>
                  </a:cubicBezTo>
                  <a:lnTo>
                    <a:pt x="4839208" y="1395730"/>
                  </a:lnTo>
                  <a:lnTo>
                    <a:pt x="4831334" y="1390396"/>
                  </a:lnTo>
                  <a:cubicBezTo>
                    <a:pt x="4832858" y="1387983"/>
                    <a:pt x="4834255" y="1385570"/>
                    <a:pt x="4835271" y="1382903"/>
                  </a:cubicBezTo>
                  <a:cubicBezTo>
                    <a:pt x="4836287" y="1380236"/>
                    <a:pt x="4837176" y="1377569"/>
                    <a:pt x="4837684" y="1374775"/>
                  </a:cubicBezTo>
                  <a:cubicBezTo>
                    <a:pt x="4838192" y="1371981"/>
                    <a:pt x="4838573" y="1369187"/>
                    <a:pt x="4838573" y="1366393"/>
                  </a:cubicBezTo>
                  <a:lnTo>
                    <a:pt x="4848098" y="1366393"/>
                  </a:lnTo>
                  <a:lnTo>
                    <a:pt x="4838700" y="1366393"/>
                  </a:lnTo>
                  <a:lnTo>
                    <a:pt x="4838700" y="62230"/>
                  </a:lnTo>
                  <a:lnTo>
                    <a:pt x="4848225" y="62230"/>
                  </a:lnTo>
                  <a:lnTo>
                    <a:pt x="4838700" y="62230"/>
                  </a:lnTo>
                  <a:cubicBezTo>
                    <a:pt x="4838700" y="59436"/>
                    <a:pt x="4838446" y="56642"/>
                    <a:pt x="4837811" y="53848"/>
                  </a:cubicBezTo>
                  <a:cubicBezTo>
                    <a:pt x="4837176" y="51054"/>
                    <a:pt x="4836414" y="48387"/>
                    <a:pt x="4835398" y="45720"/>
                  </a:cubicBezTo>
                  <a:lnTo>
                    <a:pt x="4844161" y="42037"/>
                  </a:lnTo>
                  <a:lnTo>
                    <a:pt x="4835398" y="45720"/>
                  </a:lnTo>
                  <a:cubicBezTo>
                    <a:pt x="4834255" y="43053"/>
                    <a:pt x="4832985" y="40640"/>
                    <a:pt x="4831461" y="38227"/>
                  </a:cubicBezTo>
                  <a:cubicBezTo>
                    <a:pt x="4829937" y="35814"/>
                    <a:pt x="4828159" y="33655"/>
                    <a:pt x="4826127" y="31623"/>
                  </a:cubicBezTo>
                  <a:cubicBezTo>
                    <a:pt x="4824095" y="29591"/>
                    <a:pt x="4821936" y="27813"/>
                    <a:pt x="4819523" y="26289"/>
                  </a:cubicBezTo>
                  <a:lnTo>
                    <a:pt x="4824857" y="18415"/>
                  </a:lnTo>
                  <a:lnTo>
                    <a:pt x="4819523" y="26289"/>
                  </a:lnTo>
                  <a:cubicBezTo>
                    <a:pt x="4817110" y="24765"/>
                    <a:pt x="4814697" y="23368"/>
                    <a:pt x="4812030" y="22352"/>
                  </a:cubicBezTo>
                  <a:cubicBezTo>
                    <a:pt x="4809363" y="21336"/>
                    <a:pt x="4806696" y="20447"/>
                    <a:pt x="4803902" y="19939"/>
                  </a:cubicBezTo>
                  <a:lnTo>
                    <a:pt x="4805807" y="10541"/>
                  </a:lnTo>
                  <a:lnTo>
                    <a:pt x="4803902" y="19939"/>
                  </a:lnTo>
                  <a:cubicBezTo>
                    <a:pt x="4801108" y="19431"/>
                    <a:pt x="4798314" y="19050"/>
                    <a:pt x="4795520" y="19050"/>
                  </a:cubicBezTo>
                  <a:lnTo>
                    <a:pt x="62230" y="19050"/>
                  </a:lnTo>
                  <a:cubicBezTo>
                    <a:pt x="59436" y="19050"/>
                    <a:pt x="56642" y="19304"/>
                    <a:pt x="53848" y="19939"/>
                  </a:cubicBezTo>
                  <a:lnTo>
                    <a:pt x="51943" y="10541"/>
                  </a:lnTo>
                  <a:lnTo>
                    <a:pt x="53848" y="19939"/>
                  </a:lnTo>
                  <a:cubicBezTo>
                    <a:pt x="51054" y="20447"/>
                    <a:pt x="48387" y="21336"/>
                    <a:pt x="45720" y="22352"/>
                  </a:cubicBezTo>
                  <a:lnTo>
                    <a:pt x="42037" y="13589"/>
                  </a:lnTo>
                  <a:lnTo>
                    <a:pt x="45720" y="22352"/>
                  </a:lnTo>
                  <a:cubicBezTo>
                    <a:pt x="43053" y="23495"/>
                    <a:pt x="40640" y="24765"/>
                    <a:pt x="38227" y="26289"/>
                  </a:cubicBezTo>
                  <a:cubicBezTo>
                    <a:pt x="35814" y="27813"/>
                    <a:pt x="33655" y="29591"/>
                    <a:pt x="31623" y="31623"/>
                  </a:cubicBezTo>
                  <a:cubicBezTo>
                    <a:pt x="29591" y="33655"/>
                    <a:pt x="27813" y="35814"/>
                    <a:pt x="26289" y="38227"/>
                  </a:cubicBezTo>
                  <a:cubicBezTo>
                    <a:pt x="24765" y="40640"/>
                    <a:pt x="23368" y="43053"/>
                    <a:pt x="22352" y="45720"/>
                  </a:cubicBezTo>
                  <a:cubicBezTo>
                    <a:pt x="21336" y="48387"/>
                    <a:pt x="20447" y="51054"/>
                    <a:pt x="19939" y="53848"/>
                  </a:cubicBezTo>
                  <a:cubicBezTo>
                    <a:pt x="19431" y="56642"/>
                    <a:pt x="19050" y="59436"/>
                    <a:pt x="19050" y="62230"/>
                  </a:cubicBezTo>
                  <a:lnTo>
                    <a:pt x="19050" y="1366520"/>
                  </a:lnTo>
                  <a:close/>
                </a:path>
              </a:pathLst>
            </a:custGeom>
            <a:solidFill>
              <a:srgbClr val="727EB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15300" y="2038350"/>
            <a:ext cx="3733800" cy="2847975"/>
            <a:chOff x="0" y="0"/>
            <a:chExt cx="3733800" cy="2847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33800" cy="2847975"/>
            </a:xfrm>
            <a:custGeom>
              <a:avLst/>
              <a:gdLst/>
              <a:ahLst/>
              <a:cxnLst/>
              <a:rect r="r" b="b" t="t" l="l"/>
              <a:pathLst>
                <a:path h="2847975" w="3733800">
                  <a:moveTo>
                    <a:pt x="0" y="0"/>
                  </a:moveTo>
                  <a:lnTo>
                    <a:pt x="3733800" y="0"/>
                  </a:lnTo>
                  <a:lnTo>
                    <a:pt x="3733800" y="2847975"/>
                  </a:lnTo>
                  <a:lnTo>
                    <a:pt x="0" y="2847975"/>
                  </a:lnTo>
                  <a:close/>
                </a:path>
              </a:pathLst>
            </a:custGeom>
            <a:solidFill>
              <a:srgbClr val="EFF2FB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42900" y="314963"/>
            <a:ext cx="191130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09 | WHAT COMES NEXT?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2900" y="691493"/>
            <a:ext cx="11738753" cy="156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39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09/10</a:t>
            </a:r>
          </a:p>
          <a:p>
            <a:pPr algn="just">
              <a:lnSpc>
                <a:spcPts val="3068"/>
              </a:lnSpc>
            </a:pPr>
            <a:r>
              <a:rPr lang="en-US" sz="3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FU</a:t>
            </a:r>
            <a:r>
              <a:rPr lang="en-US" sz="3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TURE SCOPE</a:t>
            </a:r>
          </a:p>
          <a:p>
            <a:pPr algn="just">
              <a:lnSpc>
                <a:spcPts val="3068"/>
              </a:lnSpc>
            </a:pPr>
            <a:r>
              <a:rPr lang="en-US" sz="30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From SBOM Analysis to Continuous Software Supply Chain Security</a:t>
            </a:r>
          </a:p>
          <a:p>
            <a:pPr algn="just">
              <a:lnSpc>
                <a:spcPts val="494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42900" y="1971675"/>
            <a:ext cx="3276600" cy="986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Future</a:t>
            </a:r>
            <a:r>
              <a:rPr lang="en-US" sz="2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Enh</a:t>
            </a:r>
            <a:r>
              <a:rPr lang="en-US" sz="2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ancements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24198" y="1503048"/>
            <a:ext cx="3314852" cy="1462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Int</a:t>
            </a:r>
            <a:r>
              <a:rPr lang="en-US" sz="2799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egrations &amp; AI Improvements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5300" y="1927606"/>
            <a:ext cx="3733800" cy="281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62"/>
              </a:lnSpc>
            </a:pPr>
          </a:p>
          <a:p>
            <a:pPr algn="just">
              <a:lnSpc>
                <a:spcPts val="4152"/>
              </a:lnSpc>
            </a:pPr>
            <a:r>
              <a:rPr lang="en-US" sz="31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Expa</a:t>
            </a:r>
            <a:r>
              <a:rPr lang="en-US" sz="31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nsion &amp; Long-Term Vision</a:t>
            </a:r>
          </a:p>
          <a:p>
            <a:pPr algn="just" marL="302152" indent="-151076" lvl="1">
              <a:lnSpc>
                <a:spcPts val="1816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upport more programming ecosystems and SBOM formats</a:t>
            </a:r>
          </a:p>
          <a:p>
            <a:pPr algn="just" marL="302152" indent="-151076" lvl="1">
              <a:lnSpc>
                <a:spcPts val="1816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Enable team collaboration, role-based access, and scalable cloud deployment</a:t>
            </a:r>
          </a:p>
          <a:p>
            <a:pPr algn="just" marL="302152" indent="-151076" lvl="1">
              <a:lnSpc>
                <a:spcPts val="1816"/>
              </a:lnSpc>
              <a:buFont typeface="Arial"/>
              <a:buChar char="•"/>
            </a:pP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Evolve into a continuous software supply chain risk platform</a:t>
            </a:r>
          </a:p>
          <a:p>
            <a:pPr algn="just">
              <a:lnSpc>
                <a:spcPts val="1816"/>
              </a:lnSpc>
            </a:pPr>
            <a:r>
              <a:rPr lang="en-US" sz="13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8185" y="3081385"/>
            <a:ext cx="50987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57162" y="3081385"/>
            <a:ext cx="50987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02919" y="2987158"/>
            <a:ext cx="3276600" cy="189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152" indent="-151076" lvl="1">
              <a:lnSpc>
                <a:spcPts val="1875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Continuous </a:t>
            </a: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SBOM monitoring and automated rescanning</a:t>
            </a:r>
          </a:p>
          <a:p>
            <a:pPr algn="l" marL="302152" indent="-151076" lvl="1">
              <a:lnSpc>
                <a:spcPts val="1875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Dependency risk trends and remediation tracking</a:t>
            </a:r>
          </a:p>
          <a:p>
            <a:pPr algn="l" marL="302152" indent="-151076" lvl="1">
              <a:lnSpc>
                <a:spcPts val="1875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Exportable security reports and compliance dashboards</a:t>
            </a:r>
          </a:p>
          <a:p>
            <a:pPr algn="l">
              <a:lnSpc>
                <a:spcPts val="1875"/>
              </a:lnSpc>
            </a:pPr>
          </a:p>
          <a:p>
            <a:pPr algn="l">
              <a:lnSpc>
                <a:spcPts val="187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457548" y="3081385"/>
            <a:ext cx="3314852" cy="172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2152" indent="-151076" lvl="1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Integrate more vulnerability databases and security tools</a:t>
            </a:r>
          </a:p>
          <a:p>
            <a:pPr algn="l" marL="302152" indent="-151076" lvl="1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Enhance the AI Copilot with clearer, evidence-linked explanations</a:t>
            </a:r>
          </a:p>
          <a:p>
            <a:pPr algn="l" marL="302152" indent="-151076" lvl="1">
              <a:lnSpc>
                <a:spcPts val="1959"/>
              </a:lnSpc>
              <a:buFont typeface="Arial"/>
              <a:buChar char="•"/>
            </a:pPr>
            <a:r>
              <a:rPr lang="en-US" sz="1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Add CI/CD pipeline integration for early risk detection</a:t>
            </a:r>
          </a:p>
          <a:p>
            <a:pPr algn="l">
              <a:lnSpc>
                <a:spcPts val="195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619500" y="5534707"/>
            <a:ext cx="4790999" cy="470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5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Vi</a:t>
            </a: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sion: Make software supply chain security proactive, scalable, and easier for every development team.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917" y="5621424"/>
            <a:ext cx="19050" cy="381000"/>
            <a:chOff x="0" y="0"/>
            <a:chExt cx="19050" cy="381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" cy="381000"/>
            </a:xfrm>
            <a:custGeom>
              <a:avLst/>
              <a:gdLst/>
              <a:ahLst/>
              <a:cxnLst/>
              <a:rect r="r" b="b" t="t" l="l"/>
              <a:pathLst>
                <a:path h="381000" w="19050">
                  <a:moveTo>
                    <a:pt x="0" y="37147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371475"/>
                  </a:lnTo>
                  <a:cubicBezTo>
                    <a:pt x="19050" y="374142"/>
                    <a:pt x="18161" y="376301"/>
                    <a:pt x="16256" y="378206"/>
                  </a:cubicBezTo>
                  <a:cubicBezTo>
                    <a:pt x="14351" y="380111"/>
                    <a:pt x="12192" y="381000"/>
                    <a:pt x="9525" y="381000"/>
                  </a:cubicBezTo>
                  <a:cubicBezTo>
                    <a:pt x="6858" y="381000"/>
                    <a:pt x="4699" y="380111"/>
                    <a:pt x="2794" y="378206"/>
                  </a:cubicBezTo>
                  <a:cubicBezTo>
                    <a:pt x="889" y="376301"/>
                    <a:pt x="0" y="374142"/>
                    <a:pt x="0" y="37147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81450" y="419100"/>
            <a:ext cx="6877050" cy="19050"/>
            <a:chOff x="0" y="0"/>
            <a:chExt cx="687705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77050" cy="19050"/>
            </a:xfrm>
            <a:custGeom>
              <a:avLst/>
              <a:gdLst/>
              <a:ahLst/>
              <a:cxnLst/>
              <a:rect r="r" b="b" t="t" l="l"/>
              <a:pathLst>
                <a:path h="19050" w="6877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6867525" y="0"/>
                  </a:lnTo>
                  <a:cubicBezTo>
                    <a:pt x="6870192" y="0"/>
                    <a:pt x="6872351" y="889"/>
                    <a:pt x="6874256" y="2794"/>
                  </a:cubicBezTo>
                  <a:cubicBezTo>
                    <a:pt x="6876161" y="4699"/>
                    <a:pt x="6877050" y="6858"/>
                    <a:pt x="6877050" y="9525"/>
                  </a:cubicBezTo>
                  <a:cubicBezTo>
                    <a:pt x="6877050" y="12192"/>
                    <a:pt x="6876161" y="14351"/>
                    <a:pt x="6874256" y="16256"/>
                  </a:cubicBezTo>
                  <a:cubicBezTo>
                    <a:pt x="6872351" y="18161"/>
                    <a:pt x="6870192" y="19050"/>
                    <a:pt x="68675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C2D3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0917" y="2330615"/>
            <a:ext cx="3039711" cy="1557365"/>
            <a:chOff x="0" y="0"/>
            <a:chExt cx="1200873" cy="615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0873" cy="615255"/>
            </a:xfrm>
            <a:custGeom>
              <a:avLst/>
              <a:gdLst/>
              <a:ahLst/>
              <a:cxnLst/>
              <a:rect r="r" b="b" t="t" l="l"/>
              <a:pathLst>
                <a:path h="615255" w="1200873">
                  <a:moveTo>
                    <a:pt x="0" y="0"/>
                  </a:moveTo>
                  <a:lnTo>
                    <a:pt x="1200873" y="0"/>
                  </a:lnTo>
                  <a:lnTo>
                    <a:pt x="1200873" y="615255"/>
                  </a:lnTo>
                  <a:lnTo>
                    <a:pt x="0" y="615255"/>
                  </a:lnTo>
                  <a:close/>
                </a:path>
              </a:pathLst>
            </a:custGeom>
            <a:solidFill>
              <a:srgbClr val="C2D3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00873" cy="643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981450" y="2330615"/>
            <a:ext cx="3637787" cy="1557365"/>
            <a:chOff x="0" y="0"/>
            <a:chExt cx="1437151" cy="6152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37151" cy="615255"/>
            </a:xfrm>
            <a:custGeom>
              <a:avLst/>
              <a:gdLst/>
              <a:ahLst/>
              <a:cxnLst/>
              <a:rect r="r" b="b" t="t" l="l"/>
              <a:pathLst>
                <a:path h="615255" w="1437151">
                  <a:moveTo>
                    <a:pt x="0" y="0"/>
                  </a:moveTo>
                  <a:lnTo>
                    <a:pt x="1437151" y="0"/>
                  </a:lnTo>
                  <a:lnTo>
                    <a:pt x="1437151" y="615255"/>
                  </a:lnTo>
                  <a:lnTo>
                    <a:pt x="0" y="615255"/>
                  </a:lnTo>
                  <a:close/>
                </a:path>
              </a:pathLst>
            </a:custGeom>
            <a:solidFill>
              <a:srgbClr val="C2D3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437151" cy="643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981592" y="2330615"/>
            <a:ext cx="3884270" cy="1557365"/>
            <a:chOff x="0" y="0"/>
            <a:chExt cx="1534526" cy="6152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34526" cy="615255"/>
            </a:xfrm>
            <a:custGeom>
              <a:avLst/>
              <a:gdLst/>
              <a:ahLst/>
              <a:cxnLst/>
              <a:rect r="r" b="b" t="t" l="l"/>
              <a:pathLst>
                <a:path h="615255" w="1534526">
                  <a:moveTo>
                    <a:pt x="0" y="0"/>
                  </a:moveTo>
                  <a:lnTo>
                    <a:pt x="1534526" y="0"/>
                  </a:lnTo>
                  <a:lnTo>
                    <a:pt x="1534526" y="615255"/>
                  </a:lnTo>
                  <a:lnTo>
                    <a:pt x="0" y="615255"/>
                  </a:lnTo>
                  <a:close/>
                </a:path>
              </a:pathLst>
            </a:custGeom>
            <a:solidFill>
              <a:srgbClr val="C2D3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534526" cy="6438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10917" y="6257378"/>
            <a:ext cx="4653391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HACKATOPIA 2K26 · CB-02 — SBOM RISK &amp; TRUST AUDITOR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16798" y="2515238"/>
            <a:ext cx="3346494" cy="103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7"/>
              </a:lnSpc>
            </a:pPr>
            <a:r>
              <a:rPr lang="en-US" sz="1349" spc="80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EVIDENCE AWARENESS</a:t>
            </a:r>
          </a:p>
          <a:p>
            <a:pPr algn="l">
              <a:lnSpc>
                <a:spcPts val="1367"/>
              </a:lnSpc>
            </a:pPr>
          </a:p>
          <a:p>
            <a:pPr algn="l">
              <a:lnSpc>
                <a:spcPts val="1822"/>
              </a:lnSpc>
            </a:pP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Highlights</a:t>
            </a: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missing information and uncertainty instead of assuming the software is safe.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00834" y="314963"/>
            <a:ext cx="448856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10/10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2900" y="314963"/>
            <a:ext cx="1362885" cy="18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 spc="63">
                <a:solidFill>
                  <a:srgbClr val="C2D3FF"/>
                </a:solidFill>
                <a:latin typeface="Space Mono"/>
                <a:ea typeface="Space Mono"/>
                <a:cs typeface="Space Mono"/>
                <a:sym typeface="Space Mono"/>
              </a:rPr>
              <a:t>10 | 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0" y="907580"/>
            <a:ext cx="11849691" cy="1423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5400">
                <a:solidFill>
                  <a:srgbClr val="FFFFFF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Finding Vulnerabilities Is Only the Beginning.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534" y="2506783"/>
            <a:ext cx="1725616" cy="51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53"/>
              </a:lnSpc>
            </a:pPr>
            <a:r>
              <a:rPr lang="en-US" sz="1249" spc="7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PRIORITIZATION </a:t>
            </a:r>
          </a:p>
          <a:p>
            <a:pPr algn="r">
              <a:lnSpc>
                <a:spcPts val="2558"/>
              </a:lnSpc>
            </a:pPr>
            <a:r>
              <a:rPr lang="en-US" sz="21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35088" y="2570376"/>
            <a:ext cx="2895667" cy="1007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6"/>
              </a:lnSpc>
            </a:pPr>
            <a:r>
              <a:rPr lang="en-US" sz="1249" spc="74">
                <a:solidFill>
                  <a:srgbClr val="000000"/>
                </a:solidFill>
                <a:latin typeface="Space Mono"/>
                <a:ea typeface="Space Mono"/>
                <a:cs typeface="Space Mono"/>
                <a:sym typeface="Space Mono"/>
              </a:rPr>
              <a:t>TRANSPARENCY</a:t>
            </a:r>
          </a:p>
          <a:p>
            <a:pPr algn="l">
              <a:lnSpc>
                <a:spcPts val="1266"/>
              </a:lnSpc>
            </a:pPr>
          </a:p>
          <a:p>
            <a:pPr algn="l">
              <a:lnSpc>
                <a:spcPts val="1822"/>
              </a:lnSpc>
            </a:pP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Makes</a:t>
            </a: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 risk assessments and SBOM quality easier to understand.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60942" y="2719514"/>
            <a:ext cx="2889685" cy="709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Helps </a:t>
            </a:r>
            <a:r>
              <a:rPr lang="en-US" sz="1799">
                <a:solidFill>
                  <a:srgbClr val="000000"/>
                </a:solidFill>
                <a:latin typeface="Newsreader 36pt"/>
                <a:ea typeface="Newsreader 36pt"/>
                <a:cs typeface="Newsreader 36pt"/>
                <a:sym typeface="Newsreader 36pt"/>
              </a:rPr>
              <a:t>developers identify which vulnerabilities deserve attention first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978" y="3969805"/>
            <a:ext cx="11376222" cy="87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</a:p>
          <a:p>
            <a:pPr algn="l">
              <a:lnSpc>
                <a:spcPts val="1799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lang="en-US" sz="1399" b="true">
                <a:solidFill>
                  <a:srgbClr val="EBECEF"/>
                </a:solidFill>
                <a:latin typeface="Inter Bold"/>
                <a:ea typeface="Inter Bold"/>
                <a:cs typeface="Inter Bold"/>
                <a:sym typeface="Inter Bold"/>
              </a:rPr>
              <a:t>ur Vision:</a:t>
            </a:r>
          </a:p>
          <a:p>
            <a:pPr algn="l">
              <a:lnSpc>
                <a:spcPts val="1799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To build a more secure software ecosystem where organizations can understand their dependencies, prioritize risks, and make confident security decisions.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919" y="5676488"/>
            <a:ext cx="7653061" cy="242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EBECEF"/>
                </a:solidFill>
                <a:latin typeface="Inter"/>
                <a:ea typeface="Inter"/>
                <a:cs typeface="Inter"/>
                <a:sym typeface="Inter"/>
              </a:rPr>
              <a:t>“DONʼT JUST SCAN YOUR SOFTWARE. UNDERSTAND ITS RISK. TRUST THE EVIDENCE.ˮˮ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DAHXeY0zg2U</dc:identifier>
  <dcterms:modified xsi:type="dcterms:W3CDTF">2011-08-01T06:04:30Z</dcterms:modified>
  <cp:revision>1</cp:revision>
  <dc:title>yenepoya presentation.pdf</dc:title>
</cp:coreProperties>
</file>